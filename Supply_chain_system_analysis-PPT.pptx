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Serif Pro Bold" charset="1" panose="02040803050405020204"/>
      <p:regular r:id="rId16"/>
    </p:embeddedFont>
    <p:embeddedFont>
      <p:font typeface="Source Sans 3" charset="1" panose="020B0303030403020204"/>
      <p:regular r:id="rId17"/>
    </p:embeddedFont>
    <p:embeddedFont>
      <p:font typeface="Source Sans 3 Bold" charset="1" panose="020B0303030403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5159" y="2981030"/>
            <a:ext cx="9335691" cy="265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Supply Chain &amp; Business Performance Analysis – January 2024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159" y="5993606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Executive Strategy Review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159" y="6827939"/>
            <a:ext cx="9335691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Prepared by: Vikas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7183" y="658711"/>
            <a:ext cx="1064866" cy="391716"/>
            <a:chOff x="0" y="0"/>
            <a:chExt cx="1419822" cy="522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9733" cy="522224"/>
            </a:xfrm>
            <a:custGeom>
              <a:avLst/>
              <a:gdLst/>
              <a:ahLst/>
              <a:cxnLst/>
              <a:rect r="r" b="b" t="t" l="l"/>
              <a:pathLst>
                <a:path h="522224" w="1419733">
                  <a:moveTo>
                    <a:pt x="0" y="101727"/>
                  </a:moveTo>
                  <a:cubicBezTo>
                    <a:pt x="0" y="45593"/>
                    <a:pt x="45593" y="0"/>
                    <a:pt x="101727" y="0"/>
                  </a:cubicBezTo>
                  <a:lnTo>
                    <a:pt x="1318006" y="0"/>
                  </a:lnTo>
                  <a:cubicBezTo>
                    <a:pt x="1374267" y="0"/>
                    <a:pt x="1419733" y="45593"/>
                    <a:pt x="1419733" y="101727"/>
                  </a:cubicBezTo>
                  <a:lnTo>
                    <a:pt x="1419733" y="420497"/>
                  </a:lnTo>
                  <a:cubicBezTo>
                    <a:pt x="1419733" y="476758"/>
                    <a:pt x="1374140" y="522224"/>
                    <a:pt x="1318006" y="522224"/>
                  </a:cubicBezTo>
                  <a:lnTo>
                    <a:pt x="101727" y="522224"/>
                  </a:lnTo>
                  <a:cubicBezTo>
                    <a:pt x="45593" y="522351"/>
                    <a:pt x="0" y="476758"/>
                    <a:pt x="0" y="420497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03362" y="688629"/>
            <a:ext cx="792509" cy="29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7183" y="1109815"/>
            <a:ext cx="8779964" cy="54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Executive Summary: January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7183" y="3549548"/>
            <a:ext cx="3207248" cy="4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Business Snapshot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7183" y="4103637"/>
            <a:ext cx="4803429" cy="187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 Revenue: ₹3.79 Billion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Orders: 1 Million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 Base: 200K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Discount: 7.5%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Delivery Time: 5 Days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67183" y="6174429"/>
            <a:ext cx="4803429" cy="1775965"/>
            <a:chOff x="0" y="0"/>
            <a:chExt cx="6404572" cy="23679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4610" cy="2368042"/>
            </a:xfrm>
            <a:custGeom>
              <a:avLst/>
              <a:gdLst/>
              <a:ahLst/>
              <a:cxnLst/>
              <a:rect r="r" b="b" t="t" l="l"/>
              <a:pathLst>
                <a:path h="2368042" w="6404610">
                  <a:moveTo>
                    <a:pt x="0" y="127254"/>
                  </a:moveTo>
                  <a:cubicBezTo>
                    <a:pt x="0" y="57023"/>
                    <a:pt x="57023" y="0"/>
                    <a:pt x="127254" y="0"/>
                  </a:cubicBezTo>
                  <a:lnTo>
                    <a:pt x="6277356" y="0"/>
                  </a:lnTo>
                  <a:cubicBezTo>
                    <a:pt x="6347587" y="0"/>
                    <a:pt x="6404610" y="57023"/>
                    <a:pt x="6404610" y="127254"/>
                  </a:cubicBezTo>
                  <a:lnTo>
                    <a:pt x="6404610" y="2240788"/>
                  </a:lnTo>
                  <a:cubicBezTo>
                    <a:pt x="6404610" y="2311019"/>
                    <a:pt x="6347587" y="2368042"/>
                    <a:pt x="6277356" y="2368042"/>
                  </a:cubicBezTo>
                  <a:lnTo>
                    <a:pt x="127254" y="2368042"/>
                  </a:lnTo>
                  <a:cubicBezTo>
                    <a:pt x="57023" y="2367915"/>
                    <a:pt x="0" y="2311019"/>
                    <a:pt x="0" y="2240788"/>
                  </a:cubicBezTo>
                  <a:close/>
                </a:path>
              </a:pathLst>
            </a:custGeom>
            <a:solidFill>
              <a:srgbClr val="E8BEF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94297" y="6478486"/>
            <a:ext cx="283959" cy="227114"/>
            <a:chOff x="0" y="0"/>
            <a:chExt cx="378612" cy="3028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78587" cy="302768"/>
            </a:xfrm>
            <a:custGeom>
              <a:avLst/>
              <a:gdLst/>
              <a:ahLst/>
              <a:cxnLst/>
              <a:rect r="r" b="b" t="t" l="l"/>
              <a:pathLst>
                <a:path h="302768" w="378587">
                  <a:moveTo>
                    <a:pt x="0" y="0"/>
                  </a:moveTo>
                  <a:lnTo>
                    <a:pt x="378587" y="0"/>
                  </a:lnTo>
                  <a:lnTo>
                    <a:pt x="378587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-6" b="-2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05370" y="6365377"/>
            <a:ext cx="3838127" cy="131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metrics provide a foundational understanding of our current operational scale and customer engagement.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34377" y="2065734"/>
            <a:ext cx="4048573" cy="4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Key Risks &amp; Opportunities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34377" y="2619823"/>
            <a:ext cx="9395822" cy="137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b="true" sz="175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Risks:</a:t>
            </a: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Inventory imbalance (overstock/understock), discount-driven margin erosion, undifferentiated premium delivery.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b="true" sz="175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Opportunities:</a:t>
            </a: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Inter-warehouse stock optimisation, targeted discounting, loyalty-based priority shipping.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34377" y="4190257"/>
            <a:ext cx="9395822" cy="5244103"/>
            <a:chOff x="0" y="0"/>
            <a:chExt cx="12527763" cy="699213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2527788" cy="6992112"/>
            </a:xfrm>
            <a:custGeom>
              <a:avLst/>
              <a:gdLst/>
              <a:ahLst/>
              <a:cxnLst/>
              <a:rect r="r" b="b" t="t" l="l"/>
              <a:pathLst>
                <a:path h="6992112" w="12527788">
                  <a:moveTo>
                    <a:pt x="0" y="0"/>
                  </a:moveTo>
                  <a:lnTo>
                    <a:pt x="12527788" y="0"/>
                  </a:lnTo>
                  <a:lnTo>
                    <a:pt x="12527788" y="6992112"/>
                  </a:lnTo>
                  <a:lnTo>
                    <a:pt x="0" y="6992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1" r="0" b="-6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9074" y="1214285"/>
            <a:ext cx="1297934" cy="459429"/>
            <a:chOff x="0" y="0"/>
            <a:chExt cx="1730578" cy="6125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0502" cy="612521"/>
            </a:xfrm>
            <a:custGeom>
              <a:avLst/>
              <a:gdLst/>
              <a:ahLst/>
              <a:cxnLst/>
              <a:rect r="r" b="b" t="t" l="l"/>
              <a:pathLst>
                <a:path h="612521" w="1730502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615440" y="0"/>
                  </a:lnTo>
                  <a:cubicBezTo>
                    <a:pt x="1678940" y="0"/>
                    <a:pt x="1730502" y="51562"/>
                    <a:pt x="1730502" y="115062"/>
                  </a:cubicBezTo>
                  <a:lnTo>
                    <a:pt x="1730502" y="497459"/>
                  </a:lnTo>
                  <a:cubicBezTo>
                    <a:pt x="1730502" y="560959"/>
                    <a:pt x="1678940" y="612521"/>
                    <a:pt x="1615440" y="612521"/>
                  </a:cubicBezTo>
                  <a:lnTo>
                    <a:pt x="115062" y="612521"/>
                  </a:lnTo>
                  <a:cubicBezTo>
                    <a:pt x="51562" y="612521"/>
                    <a:pt x="0" y="560959"/>
                    <a:pt x="0" y="49745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3103" y="1253128"/>
            <a:ext cx="989857" cy="34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INVENTORY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074" y="1742780"/>
            <a:ext cx="9243565" cy="62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Inventory Health &amp; Warehouse Analysis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99074" y="2945016"/>
            <a:ext cx="10499084" cy="5108677"/>
            <a:chOff x="0" y="0"/>
            <a:chExt cx="13998778" cy="681156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998829" cy="6811518"/>
            </a:xfrm>
            <a:custGeom>
              <a:avLst/>
              <a:gdLst/>
              <a:ahLst/>
              <a:cxnLst/>
              <a:rect r="r" b="b" t="t" l="l"/>
              <a:pathLst>
                <a:path h="6811518" w="13998829">
                  <a:moveTo>
                    <a:pt x="0" y="0"/>
                  </a:moveTo>
                  <a:lnTo>
                    <a:pt x="13998829" y="0"/>
                  </a:lnTo>
                  <a:lnTo>
                    <a:pt x="13998829" y="6811518"/>
                  </a:lnTo>
                  <a:lnTo>
                    <a:pt x="0" y="6811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1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40829" y="8053683"/>
            <a:ext cx="256880" cy="256880"/>
            <a:chOff x="0" y="0"/>
            <a:chExt cx="342506" cy="342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519" cy="342519"/>
            </a:xfrm>
            <a:custGeom>
              <a:avLst/>
              <a:gdLst/>
              <a:ahLst/>
              <a:cxnLst/>
              <a:rect r="r" b="b" t="t" l="l"/>
              <a:pathLst>
                <a:path h="342519" w="34251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12039" y="0"/>
                  </a:lnTo>
                  <a:cubicBezTo>
                    <a:pt x="328930" y="0"/>
                    <a:pt x="342519" y="13589"/>
                    <a:pt x="342519" y="30480"/>
                  </a:cubicBezTo>
                  <a:lnTo>
                    <a:pt x="342519" y="312039"/>
                  </a:lnTo>
                  <a:cubicBezTo>
                    <a:pt x="342519" y="328930"/>
                    <a:pt x="328930" y="342519"/>
                    <a:pt x="312039" y="342519"/>
                  </a:cubicBezTo>
                  <a:lnTo>
                    <a:pt x="30480" y="342519"/>
                  </a:lnTo>
                  <a:cubicBezTo>
                    <a:pt x="13589" y="342519"/>
                    <a:pt x="0" y="328930"/>
                    <a:pt x="0" y="312039"/>
                  </a:cubicBezTo>
                  <a:close/>
                </a:path>
              </a:pathLst>
            </a:custGeom>
            <a:solidFill>
              <a:srgbClr val="350B4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373909" y="8082258"/>
            <a:ext cx="1679372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Overstock SKUs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243790" y="8053683"/>
            <a:ext cx="256880" cy="256880"/>
            <a:chOff x="0" y="0"/>
            <a:chExt cx="342506" cy="342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519" cy="342519"/>
            </a:xfrm>
            <a:custGeom>
              <a:avLst/>
              <a:gdLst/>
              <a:ahLst/>
              <a:cxnLst/>
              <a:rect r="r" b="b" t="t" l="l"/>
              <a:pathLst>
                <a:path h="342519" w="34251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12039" y="0"/>
                  </a:lnTo>
                  <a:cubicBezTo>
                    <a:pt x="328930" y="0"/>
                    <a:pt x="342519" y="13589"/>
                    <a:pt x="342519" y="30480"/>
                  </a:cubicBezTo>
                  <a:lnTo>
                    <a:pt x="342519" y="312039"/>
                  </a:lnTo>
                  <a:cubicBezTo>
                    <a:pt x="342519" y="328930"/>
                    <a:pt x="328930" y="342519"/>
                    <a:pt x="312039" y="342519"/>
                  </a:cubicBezTo>
                  <a:lnTo>
                    <a:pt x="30480" y="342519"/>
                  </a:lnTo>
                  <a:cubicBezTo>
                    <a:pt x="13589" y="342519"/>
                    <a:pt x="0" y="328930"/>
                    <a:pt x="0" y="312039"/>
                  </a:cubicBezTo>
                  <a:close/>
                </a:path>
              </a:pathLst>
            </a:custGeom>
            <a:solidFill>
              <a:srgbClr val="8E1FA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76860" y="8082258"/>
            <a:ext cx="1838477" cy="2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Understock SKUs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34247" y="3239986"/>
            <a:ext cx="5364061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inventory analysis reveals critical imbalances across warehouses: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34247" y="4202163"/>
            <a:ext cx="5364061" cy="243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Understock SKUs: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10 critical SKUs are currently understocked, primarily in Bangalore, posing a risk of lost sales.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b="true" sz="20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Overstock SKUs:</a:t>
            </a: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significant 74 SKUs are overstocked, with Delhi contributing the highest volume, leading to capital blockage.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19562" y="6818709"/>
            <a:ext cx="4978746" cy="159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"Inventory misalignment directly impacts both revenue potential and working capital efficiency. Optimising stock levels is paramount for financial health."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4247" y="6885384"/>
            <a:ext cx="28575" cy="1527572"/>
            <a:chOff x="0" y="0"/>
            <a:chExt cx="38100" cy="20367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2036826"/>
            </a:xfrm>
            <a:custGeom>
              <a:avLst/>
              <a:gdLst/>
              <a:ahLst/>
              <a:cxnLst/>
              <a:rect r="r" b="b" t="t" l="l"/>
              <a:pathLst>
                <a:path h="2036826" w="38100">
                  <a:moveTo>
                    <a:pt x="0" y="0"/>
                  </a:moveTo>
                  <a:lnTo>
                    <a:pt x="38100" y="0"/>
                  </a:lnTo>
                  <a:lnTo>
                    <a:pt x="38100" y="2036826"/>
                  </a:lnTo>
                  <a:lnTo>
                    <a:pt x="0" y="2036826"/>
                  </a:lnTo>
                  <a:close/>
                </a:path>
              </a:pathLst>
            </a:custGeom>
            <a:solidFill>
              <a:srgbClr val="BE49DF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09527" y="821236"/>
            <a:ext cx="836857" cy="273253"/>
            <a:chOff x="0" y="0"/>
            <a:chExt cx="1115809" cy="3643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822" cy="364236"/>
            </a:xfrm>
            <a:custGeom>
              <a:avLst/>
              <a:gdLst/>
              <a:ahLst/>
              <a:cxnLst/>
              <a:rect r="r" b="b" t="t" l="l"/>
              <a:pathLst>
                <a:path h="364236" w="1115822">
                  <a:moveTo>
                    <a:pt x="0" y="76327"/>
                  </a:moveTo>
                  <a:cubicBezTo>
                    <a:pt x="0" y="34163"/>
                    <a:pt x="34163" y="0"/>
                    <a:pt x="76327" y="0"/>
                  </a:cubicBezTo>
                  <a:lnTo>
                    <a:pt x="1039495" y="0"/>
                  </a:lnTo>
                  <a:cubicBezTo>
                    <a:pt x="1081659" y="0"/>
                    <a:pt x="1115822" y="34163"/>
                    <a:pt x="1115822" y="76327"/>
                  </a:cubicBezTo>
                  <a:lnTo>
                    <a:pt x="1115822" y="287909"/>
                  </a:lnTo>
                  <a:cubicBezTo>
                    <a:pt x="1115822" y="330073"/>
                    <a:pt x="1081659" y="364236"/>
                    <a:pt x="1039495" y="364236"/>
                  </a:cubicBezTo>
                  <a:lnTo>
                    <a:pt x="76327" y="364236"/>
                  </a:lnTo>
                  <a:cubicBezTo>
                    <a:pt x="34163" y="364363"/>
                    <a:pt x="0" y="330200"/>
                    <a:pt x="0" y="28790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11778" y="862755"/>
            <a:ext cx="632374" cy="18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09527" y="1114130"/>
            <a:ext cx="7045081" cy="4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Product &amp; Demand Analysis: High-Value SKUs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09527" y="1776860"/>
            <a:ext cx="2579932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Top Revenue Products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9527" y="2174672"/>
            <a:ext cx="3603727" cy="120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941" indent="-98971" lvl="1">
              <a:lnSpc>
                <a:spcPts val="1624"/>
              </a:lnSpc>
              <a:buFont typeface="Arial"/>
              <a:buChar char="•"/>
            </a:pPr>
            <a:r>
              <a:rPr lang="en-US" sz="1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Face Wash</a:t>
            </a:r>
          </a:p>
          <a:p>
            <a:pPr algn="l" marL="197941" indent="-98971" lvl="1">
              <a:lnSpc>
                <a:spcPts val="1624"/>
              </a:lnSpc>
              <a:buFont typeface="Arial"/>
              <a:buChar char="•"/>
            </a:pPr>
            <a:r>
              <a:rPr lang="en-US" sz="1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Lipstick</a:t>
            </a:r>
          </a:p>
          <a:p>
            <a:pPr algn="l" marL="197941" indent="-98971" lvl="1">
              <a:lnSpc>
                <a:spcPts val="1624"/>
              </a:lnSpc>
              <a:buFont typeface="Arial"/>
              <a:buChar char="•"/>
            </a:pPr>
            <a:r>
              <a:rPr lang="en-US" sz="1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Moisturizer</a:t>
            </a:r>
          </a:p>
          <a:p>
            <a:pPr algn="l" marL="197941" indent="-98971" lvl="1">
              <a:lnSpc>
                <a:spcPts val="1624"/>
              </a:lnSpc>
              <a:buFont typeface="Arial"/>
              <a:buChar char="•"/>
            </a:pPr>
            <a:r>
              <a:rPr lang="en-US" sz="1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Serum</a:t>
            </a:r>
          </a:p>
          <a:p>
            <a:pPr algn="l" marL="197941" indent="-98971" lvl="1">
              <a:lnSpc>
                <a:spcPts val="1624"/>
              </a:lnSpc>
              <a:buFont typeface="Arial"/>
              <a:buChar char="•"/>
            </a:pPr>
            <a:r>
              <a:rPr lang="en-US" sz="1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Foundation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609527" y="3488827"/>
            <a:ext cx="3603727" cy="953691"/>
            <a:chOff x="0" y="0"/>
            <a:chExt cx="4804969" cy="1271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05045" cy="1271651"/>
            </a:xfrm>
            <a:custGeom>
              <a:avLst/>
              <a:gdLst/>
              <a:ahLst/>
              <a:cxnLst/>
              <a:rect r="r" b="b" t="t" l="l"/>
              <a:pathLst>
                <a:path h="1271651" w="4805045">
                  <a:moveTo>
                    <a:pt x="0" y="95504"/>
                  </a:moveTo>
                  <a:cubicBezTo>
                    <a:pt x="0" y="42672"/>
                    <a:pt x="42672" y="0"/>
                    <a:pt x="95504" y="0"/>
                  </a:cubicBezTo>
                  <a:lnTo>
                    <a:pt x="4709541" y="0"/>
                  </a:lnTo>
                  <a:cubicBezTo>
                    <a:pt x="4762246" y="0"/>
                    <a:pt x="4805045" y="42672"/>
                    <a:pt x="4805045" y="95504"/>
                  </a:cubicBezTo>
                  <a:lnTo>
                    <a:pt x="4805045" y="1176147"/>
                  </a:lnTo>
                  <a:cubicBezTo>
                    <a:pt x="4805045" y="1228852"/>
                    <a:pt x="4762373" y="1271651"/>
                    <a:pt x="4709541" y="1271651"/>
                  </a:cubicBezTo>
                  <a:lnTo>
                    <a:pt x="95504" y="1271651"/>
                  </a:lnTo>
                  <a:cubicBezTo>
                    <a:pt x="42672" y="1271651"/>
                    <a:pt x="0" y="1228852"/>
                    <a:pt x="0" y="1176147"/>
                  </a:cubicBezTo>
                  <a:close/>
                </a:path>
              </a:pathLst>
            </a:custGeom>
            <a:solidFill>
              <a:srgbClr val="E8BEF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779939" y="3705073"/>
            <a:ext cx="212969" cy="170412"/>
            <a:chOff x="0" y="0"/>
            <a:chExt cx="283959" cy="22721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83972" cy="227203"/>
            </a:xfrm>
            <a:custGeom>
              <a:avLst/>
              <a:gdLst/>
              <a:ahLst/>
              <a:cxnLst/>
              <a:rect r="r" b="b" t="t" l="l"/>
              <a:pathLst>
                <a:path h="227203" w="283972">
                  <a:moveTo>
                    <a:pt x="0" y="0"/>
                  </a:moveTo>
                  <a:lnTo>
                    <a:pt x="283972" y="0"/>
                  </a:lnTo>
                  <a:lnTo>
                    <a:pt x="283972" y="227203"/>
                  </a:lnTo>
                  <a:lnTo>
                    <a:pt x="0" y="22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29" r="4" b="-112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163320" y="3628434"/>
            <a:ext cx="2879522" cy="64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top 20% of products, including these, are revenue drivers and must adhere to a "Zero Stock-Out Strategy."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609527" y="4551607"/>
            <a:ext cx="3603727" cy="4804915"/>
            <a:chOff x="0" y="0"/>
            <a:chExt cx="4804969" cy="640655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804918" cy="6406515"/>
            </a:xfrm>
            <a:custGeom>
              <a:avLst/>
              <a:gdLst/>
              <a:ahLst/>
              <a:cxnLst/>
              <a:rect r="r" b="b" t="t" l="l"/>
              <a:pathLst>
                <a:path h="6406515" w="4804918">
                  <a:moveTo>
                    <a:pt x="0" y="0"/>
                  </a:moveTo>
                  <a:lnTo>
                    <a:pt x="4804918" y="0"/>
                  </a:lnTo>
                  <a:lnTo>
                    <a:pt x="4804918" y="6406515"/>
                  </a:lnTo>
                  <a:lnTo>
                    <a:pt x="0" y="6406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638602" y="3388071"/>
            <a:ext cx="2446287" cy="30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Revenue by Category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38602" y="3797941"/>
            <a:ext cx="7049091" cy="3947370"/>
            <a:chOff x="0" y="0"/>
            <a:chExt cx="9398787" cy="526315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398762" cy="5263134"/>
            </a:xfrm>
            <a:custGeom>
              <a:avLst/>
              <a:gdLst/>
              <a:ahLst/>
              <a:cxnLst/>
              <a:rect r="r" b="b" t="t" l="l"/>
              <a:pathLst>
                <a:path h="5263134" w="9398762">
                  <a:moveTo>
                    <a:pt x="0" y="0"/>
                  </a:moveTo>
                  <a:lnTo>
                    <a:pt x="9398762" y="0"/>
                  </a:lnTo>
                  <a:lnTo>
                    <a:pt x="9398762" y="5263134"/>
                  </a:lnTo>
                  <a:lnTo>
                    <a:pt x="0" y="5263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0" r="-47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0549" y="678066"/>
            <a:ext cx="962616" cy="426091"/>
            <a:chOff x="0" y="0"/>
            <a:chExt cx="1283487" cy="568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3462" cy="568071"/>
            </a:xfrm>
            <a:custGeom>
              <a:avLst/>
              <a:gdLst/>
              <a:ahLst/>
              <a:cxnLst/>
              <a:rect r="r" b="b" t="t" l="l"/>
              <a:pathLst>
                <a:path h="568071" w="1283462">
                  <a:moveTo>
                    <a:pt x="0" y="108585"/>
                  </a:moveTo>
                  <a:cubicBezTo>
                    <a:pt x="0" y="48641"/>
                    <a:pt x="48641" y="0"/>
                    <a:pt x="108585" y="0"/>
                  </a:cubicBezTo>
                  <a:lnTo>
                    <a:pt x="1174877" y="0"/>
                  </a:lnTo>
                  <a:cubicBezTo>
                    <a:pt x="1234821" y="0"/>
                    <a:pt x="1283462" y="48641"/>
                    <a:pt x="1283462" y="108585"/>
                  </a:cubicBezTo>
                  <a:lnTo>
                    <a:pt x="1283462" y="459486"/>
                  </a:lnTo>
                  <a:cubicBezTo>
                    <a:pt x="1283462" y="519430"/>
                    <a:pt x="1234821" y="568071"/>
                    <a:pt x="1174877" y="568071"/>
                  </a:cubicBezTo>
                  <a:lnTo>
                    <a:pt x="108585" y="568071"/>
                  </a:lnTo>
                  <a:cubicBezTo>
                    <a:pt x="48641" y="568071"/>
                    <a:pt x="0" y="519430"/>
                    <a:pt x="0" y="459486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15948" y="722109"/>
            <a:ext cx="671808" cy="30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549" y="1163688"/>
            <a:ext cx="6869316" cy="58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Orders &amp; Channel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0549" y="2234803"/>
            <a:ext cx="3492398" cy="43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Channel Distribution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0549" y="2893219"/>
            <a:ext cx="10028339" cy="5335191"/>
            <a:chOff x="0" y="0"/>
            <a:chExt cx="13371119" cy="711358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371068" cy="7113651"/>
            </a:xfrm>
            <a:custGeom>
              <a:avLst/>
              <a:gdLst/>
              <a:ahLst/>
              <a:cxnLst/>
              <a:rect r="r" b="b" t="t" l="l"/>
              <a:pathLst>
                <a:path h="7113651" w="13371068">
                  <a:moveTo>
                    <a:pt x="0" y="0"/>
                  </a:moveTo>
                  <a:lnTo>
                    <a:pt x="13371068" y="0"/>
                  </a:lnTo>
                  <a:lnTo>
                    <a:pt x="13371068" y="7113651"/>
                  </a:lnTo>
                  <a:lnTo>
                    <a:pt x="0" y="7113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t="0" r="-1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499990" y="8266509"/>
            <a:ext cx="242440" cy="242440"/>
            <a:chOff x="0" y="0"/>
            <a:chExt cx="323253" cy="3232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215" cy="323215"/>
            </a:xfrm>
            <a:custGeom>
              <a:avLst/>
              <a:gdLst/>
              <a:ahLst/>
              <a:cxnLst/>
              <a:rect r="r" b="b" t="t" l="l"/>
              <a:pathLst>
                <a:path h="323215" w="323215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292735" y="0"/>
                  </a:lnTo>
                  <a:cubicBezTo>
                    <a:pt x="309626" y="0"/>
                    <a:pt x="323215" y="13589"/>
                    <a:pt x="323215" y="30480"/>
                  </a:cubicBezTo>
                  <a:lnTo>
                    <a:pt x="323215" y="292735"/>
                  </a:lnTo>
                  <a:cubicBezTo>
                    <a:pt x="323215" y="309626"/>
                    <a:pt x="309626" y="323215"/>
                    <a:pt x="292735" y="323215"/>
                  </a:cubicBezTo>
                  <a:lnTo>
                    <a:pt x="30480" y="323215"/>
                  </a:lnTo>
                  <a:cubicBezTo>
                    <a:pt x="13589" y="323215"/>
                    <a:pt x="0" y="309626"/>
                    <a:pt x="0" y="292735"/>
                  </a:cubicBezTo>
                  <a:close/>
                </a:path>
              </a:pathLst>
            </a:custGeom>
            <a:solidFill>
              <a:srgbClr val="350B4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818630" y="8304609"/>
            <a:ext cx="667645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Online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546674" y="8266509"/>
            <a:ext cx="242440" cy="242440"/>
            <a:chOff x="0" y="0"/>
            <a:chExt cx="323253" cy="3232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215" cy="323215"/>
            </a:xfrm>
            <a:custGeom>
              <a:avLst/>
              <a:gdLst/>
              <a:ahLst/>
              <a:cxnLst/>
              <a:rect r="r" b="b" t="t" l="l"/>
              <a:pathLst>
                <a:path h="323215" w="323215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292735" y="0"/>
                  </a:lnTo>
                  <a:cubicBezTo>
                    <a:pt x="309626" y="0"/>
                    <a:pt x="323215" y="13589"/>
                    <a:pt x="323215" y="30480"/>
                  </a:cubicBezTo>
                  <a:lnTo>
                    <a:pt x="323215" y="292735"/>
                  </a:lnTo>
                  <a:cubicBezTo>
                    <a:pt x="323215" y="309626"/>
                    <a:pt x="309626" y="323215"/>
                    <a:pt x="292735" y="323215"/>
                  </a:cubicBezTo>
                  <a:lnTo>
                    <a:pt x="30480" y="323215"/>
                  </a:lnTo>
                  <a:cubicBezTo>
                    <a:pt x="13589" y="323215"/>
                    <a:pt x="0" y="309626"/>
                    <a:pt x="0" y="292735"/>
                  </a:cubicBezTo>
                  <a:close/>
                </a:path>
              </a:pathLst>
            </a:custGeom>
            <a:solidFill>
              <a:srgbClr val="8D1EA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865314" y="8304609"/>
            <a:ext cx="1157288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Retail Store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083001" y="8266509"/>
            <a:ext cx="242440" cy="242440"/>
            <a:chOff x="0" y="0"/>
            <a:chExt cx="323253" cy="3232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215" cy="323215"/>
            </a:xfrm>
            <a:custGeom>
              <a:avLst/>
              <a:gdLst/>
              <a:ahLst/>
              <a:cxnLst/>
              <a:rect r="r" b="b" t="t" l="l"/>
              <a:pathLst>
                <a:path h="323215" w="323215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292735" y="0"/>
                  </a:lnTo>
                  <a:cubicBezTo>
                    <a:pt x="309626" y="0"/>
                    <a:pt x="323215" y="13589"/>
                    <a:pt x="323215" y="30480"/>
                  </a:cubicBezTo>
                  <a:lnTo>
                    <a:pt x="323215" y="292735"/>
                  </a:lnTo>
                  <a:cubicBezTo>
                    <a:pt x="323215" y="309626"/>
                    <a:pt x="309626" y="323215"/>
                    <a:pt x="292735" y="323215"/>
                  </a:cubicBezTo>
                  <a:lnTo>
                    <a:pt x="30480" y="323215"/>
                  </a:lnTo>
                  <a:cubicBezTo>
                    <a:pt x="13589" y="323215"/>
                    <a:pt x="0" y="309626"/>
                    <a:pt x="0" y="292735"/>
                  </a:cubicBezTo>
                  <a:close/>
                </a:path>
              </a:pathLst>
            </a:custGeom>
            <a:solidFill>
              <a:srgbClr val="C864E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401641" y="8304609"/>
            <a:ext cx="1241527" cy="2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Marketplace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0549" y="8682333"/>
            <a:ext cx="10028339" cy="74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With 1 Million total orders, a balanced channel mix between Online, Retail Store, and Marketplace (near equal distribution) acts as a hedge against market volatility.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99849" y="3431677"/>
            <a:ext cx="3511601" cy="43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Monthly Order Trend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899849" y="4090092"/>
            <a:ext cx="5126831" cy="2870892"/>
            <a:chOff x="0" y="0"/>
            <a:chExt cx="6835775" cy="382785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835775" cy="3827907"/>
            </a:xfrm>
            <a:custGeom>
              <a:avLst/>
              <a:gdLst/>
              <a:ahLst/>
              <a:cxnLst/>
              <a:rect r="r" b="b" t="t" l="l"/>
              <a:pathLst>
                <a:path h="3827907" w="6835775">
                  <a:moveTo>
                    <a:pt x="0" y="0"/>
                  </a:moveTo>
                  <a:lnTo>
                    <a:pt x="6835775" y="0"/>
                  </a:lnTo>
                  <a:lnTo>
                    <a:pt x="6835775" y="3827907"/>
                  </a:lnTo>
                  <a:lnTo>
                    <a:pt x="0" y="382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" t="0" r="-44" b="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99849" y="7134377"/>
            <a:ext cx="5126831" cy="110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monthly order trend shows consistent growth, peaking in December, followed by a slight post-holiday normalisation.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94257" y="651872"/>
            <a:ext cx="1035101" cy="317602"/>
            <a:chOff x="0" y="0"/>
            <a:chExt cx="1380134" cy="4234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0109" cy="423418"/>
            </a:xfrm>
            <a:custGeom>
              <a:avLst/>
              <a:gdLst/>
              <a:ahLst/>
              <a:cxnLst/>
              <a:rect r="r" b="b" t="t" l="l"/>
              <a:pathLst>
                <a:path h="423418" w="1380109">
                  <a:moveTo>
                    <a:pt x="0" y="86233"/>
                  </a:moveTo>
                  <a:cubicBezTo>
                    <a:pt x="0" y="38608"/>
                    <a:pt x="38608" y="0"/>
                    <a:pt x="86233" y="0"/>
                  </a:cubicBezTo>
                  <a:lnTo>
                    <a:pt x="1293876" y="0"/>
                  </a:lnTo>
                  <a:cubicBezTo>
                    <a:pt x="1341501" y="0"/>
                    <a:pt x="1380109" y="38608"/>
                    <a:pt x="1380109" y="86233"/>
                  </a:cubicBezTo>
                  <a:lnTo>
                    <a:pt x="1380109" y="337185"/>
                  </a:lnTo>
                  <a:cubicBezTo>
                    <a:pt x="1380109" y="384810"/>
                    <a:pt x="1341501" y="423418"/>
                    <a:pt x="1293876" y="423418"/>
                  </a:cubicBezTo>
                  <a:lnTo>
                    <a:pt x="86233" y="423418"/>
                  </a:lnTo>
                  <a:cubicBezTo>
                    <a:pt x="38608" y="423418"/>
                    <a:pt x="0" y="384810"/>
                    <a:pt x="0" y="337185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09605" y="699935"/>
            <a:ext cx="804415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GEOGRAPHY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94257" y="999830"/>
            <a:ext cx="4904337" cy="47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State-wise Demand Analysis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94257" y="3417246"/>
            <a:ext cx="7960366" cy="4457700"/>
            <a:chOff x="0" y="0"/>
            <a:chExt cx="10613822" cy="59436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613771" cy="5943600"/>
            </a:xfrm>
            <a:custGeom>
              <a:avLst/>
              <a:gdLst/>
              <a:ahLst/>
              <a:cxnLst/>
              <a:rect r="r" b="b" t="t" l="l"/>
              <a:pathLst>
                <a:path h="5943600" w="10613771">
                  <a:moveTo>
                    <a:pt x="0" y="0"/>
                  </a:moveTo>
                  <a:lnTo>
                    <a:pt x="10613771" y="0"/>
                  </a:lnTo>
                  <a:lnTo>
                    <a:pt x="10613771" y="5943600"/>
                  </a:lnTo>
                  <a:lnTo>
                    <a:pt x="0" y="594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t="0" r="-1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333559" y="1759001"/>
            <a:ext cx="4069709" cy="102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top-performing states – West Bengal, Tamil Nadu, Gujarat, and Uttar Pradesh – represent significant pockets of demand. These regions are strategically vital.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33559" y="2919117"/>
            <a:ext cx="4069709" cy="5426278"/>
            <a:chOff x="0" y="0"/>
            <a:chExt cx="5426278" cy="723503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426329" cy="7235063"/>
            </a:xfrm>
            <a:custGeom>
              <a:avLst/>
              <a:gdLst/>
              <a:ahLst/>
              <a:cxnLst/>
              <a:rect r="r" b="b" t="t" l="l"/>
              <a:pathLst>
                <a:path h="7235063" w="5426329">
                  <a:moveTo>
                    <a:pt x="0" y="0"/>
                  </a:moveTo>
                  <a:lnTo>
                    <a:pt x="5426329" y="0"/>
                  </a:lnTo>
                  <a:lnTo>
                    <a:pt x="5426329" y="7235063"/>
                  </a:lnTo>
                  <a:lnTo>
                    <a:pt x="0" y="7235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" r="0" b="-5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622138" y="8475021"/>
            <a:ext cx="3781130" cy="102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"Focusing on high-demand states offers a prime opportunity for micro-warehouse expansion, enhancing delivery speed and customer satisfaction."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33559" y="8484546"/>
            <a:ext cx="28575" cy="1011441"/>
            <a:chOff x="0" y="0"/>
            <a:chExt cx="38100" cy="13485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1348613"/>
            </a:xfrm>
            <a:custGeom>
              <a:avLst/>
              <a:gdLst/>
              <a:ahLst/>
              <a:cxnLst/>
              <a:rect r="r" b="b" t="t" l="l"/>
              <a:pathLst>
                <a:path h="1348613" w="38100">
                  <a:moveTo>
                    <a:pt x="0" y="0"/>
                  </a:moveTo>
                  <a:lnTo>
                    <a:pt x="38100" y="0"/>
                  </a:lnTo>
                  <a:lnTo>
                    <a:pt x="38100" y="1348613"/>
                  </a:lnTo>
                  <a:lnTo>
                    <a:pt x="0" y="1348613"/>
                  </a:lnTo>
                  <a:close/>
                </a:path>
              </a:pathLst>
            </a:custGeom>
            <a:solidFill>
              <a:srgbClr val="BE49DF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4659" y="1403594"/>
            <a:ext cx="1071858" cy="392316"/>
            <a:chOff x="0" y="0"/>
            <a:chExt cx="1429144" cy="523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9258" cy="523113"/>
            </a:xfrm>
            <a:custGeom>
              <a:avLst/>
              <a:gdLst/>
              <a:ahLst/>
              <a:cxnLst/>
              <a:rect r="r" b="b" t="t" l="l"/>
              <a:pathLst>
                <a:path h="523113" w="1429258">
                  <a:moveTo>
                    <a:pt x="0" y="101854"/>
                  </a:moveTo>
                  <a:cubicBezTo>
                    <a:pt x="0" y="45593"/>
                    <a:pt x="45593" y="0"/>
                    <a:pt x="101854" y="0"/>
                  </a:cubicBezTo>
                  <a:lnTo>
                    <a:pt x="1327404" y="0"/>
                  </a:lnTo>
                  <a:cubicBezTo>
                    <a:pt x="1383665" y="0"/>
                    <a:pt x="1429258" y="45593"/>
                    <a:pt x="1429258" y="101854"/>
                  </a:cubicBezTo>
                  <a:lnTo>
                    <a:pt x="1429258" y="421259"/>
                  </a:lnTo>
                  <a:cubicBezTo>
                    <a:pt x="1429258" y="477520"/>
                    <a:pt x="1383665" y="523113"/>
                    <a:pt x="1327404" y="523113"/>
                  </a:cubicBezTo>
                  <a:lnTo>
                    <a:pt x="101854" y="523113"/>
                  </a:lnTo>
                  <a:cubicBezTo>
                    <a:pt x="45593" y="523113"/>
                    <a:pt x="0" y="477520"/>
                    <a:pt x="0" y="421259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00980" y="1433665"/>
            <a:ext cx="799205" cy="29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LOGISTICS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4659" y="1855289"/>
            <a:ext cx="6725688" cy="54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Logistics &amp; Courier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4659" y="2811666"/>
            <a:ext cx="4107952" cy="4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Courier Delay Comparison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64659" y="3425876"/>
            <a:ext cx="9398946" cy="5263305"/>
            <a:chOff x="0" y="0"/>
            <a:chExt cx="12531928" cy="70177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2531979" cy="7017766"/>
            </a:xfrm>
            <a:custGeom>
              <a:avLst/>
              <a:gdLst/>
              <a:ahLst/>
              <a:cxnLst/>
              <a:rect r="r" b="b" t="t" l="l"/>
              <a:pathLst>
                <a:path h="7017766" w="12531979">
                  <a:moveTo>
                    <a:pt x="0" y="0"/>
                  </a:moveTo>
                  <a:lnTo>
                    <a:pt x="12531979" y="0"/>
                  </a:lnTo>
                  <a:lnTo>
                    <a:pt x="12531979" y="7017766"/>
                  </a:lnTo>
                  <a:lnTo>
                    <a:pt x="0" y="7017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563798" y="2658218"/>
            <a:ext cx="5132337" cy="6225035"/>
            <a:chOff x="0" y="0"/>
            <a:chExt cx="6843116" cy="83000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43141" cy="8300085"/>
            </a:xfrm>
            <a:custGeom>
              <a:avLst/>
              <a:gdLst/>
              <a:ahLst/>
              <a:cxnLst/>
              <a:rect r="r" b="b" t="t" l="l"/>
              <a:pathLst>
                <a:path h="8300085" w="6843141">
                  <a:moveTo>
                    <a:pt x="0" y="218186"/>
                  </a:moveTo>
                  <a:cubicBezTo>
                    <a:pt x="0" y="97663"/>
                    <a:pt x="97663" y="0"/>
                    <a:pt x="218186" y="0"/>
                  </a:cubicBezTo>
                  <a:lnTo>
                    <a:pt x="6624955" y="0"/>
                  </a:lnTo>
                  <a:cubicBezTo>
                    <a:pt x="6745478" y="0"/>
                    <a:pt x="6843141" y="97663"/>
                    <a:pt x="6843141" y="218186"/>
                  </a:cubicBezTo>
                  <a:lnTo>
                    <a:pt x="6843141" y="8081899"/>
                  </a:lnTo>
                  <a:cubicBezTo>
                    <a:pt x="6843141" y="8202422"/>
                    <a:pt x="6745478" y="8300085"/>
                    <a:pt x="6624955" y="8300085"/>
                  </a:cubicBezTo>
                  <a:lnTo>
                    <a:pt x="218186" y="8300085"/>
                  </a:lnTo>
                  <a:cubicBezTo>
                    <a:pt x="97663" y="8300085"/>
                    <a:pt x="0" y="8202422"/>
                    <a:pt x="0" y="8081899"/>
                  </a:cubicBezTo>
                  <a:close/>
                </a:path>
              </a:pathLst>
            </a:custGeom>
            <a:solidFill>
              <a:srgbClr val="BE49DF">
                <a:alpha val="90196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790912" y="3416646"/>
            <a:ext cx="3999757" cy="4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Key Performance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90912" y="3971182"/>
            <a:ext cx="4678118" cy="271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b="true" sz="175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Average Delivery Time: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Approximately 5 days across all couriers.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b="true" sz="175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Courier Performance: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DTDC exhibits a slightly higher delay percentage compared to other partners.</a:t>
            </a:r>
          </a:p>
          <a:p>
            <a:pPr algn="l" marL="263922" indent="-131961" lvl="1">
              <a:lnSpc>
                <a:spcPts val="2499"/>
              </a:lnSpc>
              <a:buFont typeface="Arial"/>
              <a:buChar char="•"/>
            </a:pPr>
            <a:r>
              <a:rPr lang="en-US" b="true" sz="175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Regional Delays: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Uttar Pradesh and Tamil Nadu show higher delay rates, impacting customer experience in key markets.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90912" y="6805612"/>
            <a:ext cx="4678118" cy="131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Recommendation: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Implement a comprehensive courier performance scorecard and renegotiate Service Level Agreements (SLAs) with underperforming partners.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9694" y="1486195"/>
            <a:ext cx="1212647" cy="420138"/>
            <a:chOff x="0" y="0"/>
            <a:chExt cx="1616862" cy="5601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6964" cy="560324"/>
            </a:xfrm>
            <a:custGeom>
              <a:avLst/>
              <a:gdLst/>
              <a:ahLst/>
              <a:cxnLst/>
              <a:rect r="r" b="b" t="t" l="l"/>
              <a:pathLst>
                <a:path h="560324" w="16169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1509522" y="0"/>
                  </a:lnTo>
                  <a:cubicBezTo>
                    <a:pt x="1568831" y="0"/>
                    <a:pt x="1616964" y="48133"/>
                    <a:pt x="1616964" y="107442"/>
                  </a:cubicBezTo>
                  <a:lnTo>
                    <a:pt x="1616964" y="452882"/>
                  </a:lnTo>
                  <a:cubicBezTo>
                    <a:pt x="1616964" y="512191"/>
                    <a:pt x="1568831" y="560324"/>
                    <a:pt x="1509522" y="560324"/>
                  </a:cubicBezTo>
                  <a:lnTo>
                    <a:pt x="107442" y="560324"/>
                  </a:lnTo>
                  <a:cubicBezTo>
                    <a:pt x="48133" y="560197"/>
                    <a:pt x="0" y="512064"/>
                    <a:pt x="0" y="452755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03464" y="1529505"/>
            <a:ext cx="925116" cy="3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EFFICIENCY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9694" y="1964084"/>
            <a:ext cx="5768731" cy="58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Shipping Cost &amp; Efficiency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9694" y="3051124"/>
            <a:ext cx="9914782" cy="5533730"/>
            <a:chOff x="0" y="0"/>
            <a:chExt cx="13219709" cy="737830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219685" cy="7378319"/>
            </a:xfrm>
            <a:custGeom>
              <a:avLst/>
              <a:gdLst/>
              <a:ahLst/>
              <a:cxnLst/>
              <a:rect r="r" b="b" t="t" l="l"/>
              <a:pathLst>
                <a:path h="7378319" w="13219685">
                  <a:moveTo>
                    <a:pt x="0" y="0"/>
                  </a:moveTo>
                  <a:lnTo>
                    <a:pt x="13219685" y="0"/>
                  </a:lnTo>
                  <a:lnTo>
                    <a:pt x="13219685" y="7378319"/>
                  </a:lnTo>
                  <a:lnTo>
                    <a:pt x="0" y="7378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68893" y="3178969"/>
            <a:ext cx="3615633" cy="44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Cost vs. Delivery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68893" y="3774872"/>
            <a:ext cx="5068786" cy="79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2687"/>
              </a:lnSpc>
              <a:buFont typeface="Arial"/>
              <a:buChar char="•"/>
            </a:pPr>
            <a:r>
              <a:rPr lang="en-US" b="true" sz="187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Shipping Cost:</a:t>
            </a: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₹174 Million</a:t>
            </a:r>
          </a:p>
          <a:p>
            <a:pPr algn="l" marL="282773" indent="-141387" lvl="1">
              <a:lnSpc>
                <a:spcPts val="2687"/>
              </a:lnSpc>
              <a:buFont typeface="Arial"/>
              <a:buChar char="•"/>
            </a:pPr>
            <a:r>
              <a:rPr lang="en-US" b="true" sz="1874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Average Shipping Cost per Order:</a:t>
            </a: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₹174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68893" y="4705645"/>
            <a:ext cx="5068786" cy="17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analysis indicates minimal cost differentiation among courier partners despite varying delivery times. This highlights that while cost is a factor, operational efficiency and reliability are paramount.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28462" y="6648745"/>
            <a:ext cx="4709217" cy="17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"The small cost difference between couriers suggests that optimising operational efficiency for speed and reliability, rather than solely focusing on marginal cost reductions, will yield greater strategic benefits."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68893" y="6686845"/>
            <a:ext cx="28575" cy="1727149"/>
            <a:chOff x="0" y="0"/>
            <a:chExt cx="38100" cy="23028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2302891"/>
            </a:xfrm>
            <a:custGeom>
              <a:avLst/>
              <a:gdLst/>
              <a:ahLst/>
              <a:cxnLst/>
              <a:rect r="r" b="b" t="t" l="l"/>
              <a:pathLst>
                <a:path h="2302891" w="38100">
                  <a:moveTo>
                    <a:pt x="0" y="0"/>
                  </a:moveTo>
                  <a:lnTo>
                    <a:pt x="38100" y="0"/>
                  </a:lnTo>
                  <a:lnTo>
                    <a:pt x="38100" y="2302891"/>
                  </a:lnTo>
                  <a:lnTo>
                    <a:pt x="0" y="2302891"/>
                  </a:lnTo>
                  <a:close/>
                </a:path>
              </a:pathLst>
            </a:custGeom>
            <a:solidFill>
              <a:srgbClr val="BE49DF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76690" y="956967"/>
            <a:ext cx="1053998" cy="325193"/>
            <a:chOff x="0" y="0"/>
            <a:chExt cx="1405331" cy="433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5382" cy="433578"/>
            </a:xfrm>
            <a:custGeom>
              <a:avLst/>
              <a:gdLst/>
              <a:ahLst/>
              <a:cxnLst/>
              <a:rect r="r" b="b" t="t" l="l"/>
              <a:pathLst>
                <a:path h="433578" w="1405382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1317498" y="0"/>
                  </a:lnTo>
                  <a:cubicBezTo>
                    <a:pt x="1366012" y="0"/>
                    <a:pt x="1405382" y="39370"/>
                    <a:pt x="1405382" y="87884"/>
                  </a:cubicBezTo>
                  <a:lnTo>
                    <a:pt x="1405382" y="345694"/>
                  </a:lnTo>
                  <a:cubicBezTo>
                    <a:pt x="1405382" y="394208"/>
                    <a:pt x="1366012" y="433578"/>
                    <a:pt x="1317498" y="433578"/>
                  </a:cubicBezTo>
                  <a:lnTo>
                    <a:pt x="87884" y="433578"/>
                  </a:lnTo>
                  <a:cubicBezTo>
                    <a:pt x="39370" y="433578"/>
                    <a:pt x="0" y="394208"/>
                    <a:pt x="0" y="345694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94257" y="996706"/>
            <a:ext cx="818855" cy="2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18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6690" y="1314450"/>
            <a:ext cx="6640859" cy="48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Discount Impact &amp; Customer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6690" y="2106511"/>
            <a:ext cx="321439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Customer Segmentation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76690" y="2571455"/>
            <a:ext cx="8110090" cy="88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Customers:</a:t>
            </a: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200,000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Premium Customers:</a:t>
            </a: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50% of our customer base, indicating significant high-value segments.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Average Revenue per Customer:</a:t>
            </a:r>
            <a:r>
              <a:rPr lang="en-US" sz="15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₹18,940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76690" y="3604022"/>
            <a:ext cx="8110090" cy="910380"/>
            <a:chOff x="0" y="0"/>
            <a:chExt cx="10813453" cy="12138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13542" cy="1213866"/>
            </a:xfrm>
            <a:custGeom>
              <a:avLst/>
              <a:gdLst/>
              <a:ahLst/>
              <a:cxnLst/>
              <a:rect r="r" b="b" t="t" l="l"/>
              <a:pathLst>
                <a:path h="1213866" w="10813542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0703687" y="0"/>
                  </a:lnTo>
                  <a:cubicBezTo>
                    <a:pt x="10764393" y="0"/>
                    <a:pt x="10813542" y="49149"/>
                    <a:pt x="10813542" y="109855"/>
                  </a:cubicBezTo>
                  <a:lnTo>
                    <a:pt x="10813542" y="1104011"/>
                  </a:lnTo>
                  <a:cubicBezTo>
                    <a:pt x="10813542" y="1164717"/>
                    <a:pt x="10764393" y="1213866"/>
                    <a:pt x="10703687" y="1213866"/>
                  </a:cubicBezTo>
                  <a:lnTo>
                    <a:pt x="109855" y="1213866"/>
                  </a:lnTo>
                  <a:cubicBezTo>
                    <a:pt x="49149" y="1213866"/>
                    <a:pt x="0" y="1164717"/>
                    <a:pt x="0" y="1104011"/>
                  </a:cubicBezTo>
                  <a:close/>
                </a:path>
              </a:pathLst>
            </a:custGeom>
            <a:solidFill>
              <a:srgbClr val="E8BEF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72695" y="3867893"/>
            <a:ext cx="244973" cy="196005"/>
            <a:chOff x="0" y="0"/>
            <a:chExt cx="326631" cy="261341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26644" cy="261366"/>
            </a:xfrm>
            <a:custGeom>
              <a:avLst/>
              <a:gdLst/>
              <a:ahLst/>
              <a:cxnLst/>
              <a:rect r="r" b="b" t="t" l="l"/>
              <a:pathLst>
                <a:path h="261366" w="326644">
                  <a:moveTo>
                    <a:pt x="0" y="0"/>
                  </a:moveTo>
                  <a:lnTo>
                    <a:pt x="326644" y="0"/>
                  </a:lnTo>
                  <a:lnTo>
                    <a:pt x="326644" y="261366"/>
                  </a:lnTo>
                  <a:lnTo>
                    <a:pt x="0" y="261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1" r="3" b="-46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413674" y="3762375"/>
            <a:ext cx="7277100" cy="53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Crucially, our premium customers are not currently receiving a differentiated delivery experience, which presents a significant opportunity for enhanced loyalty and retention.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776690" y="4658916"/>
            <a:ext cx="8110090" cy="4526461"/>
            <a:chOff x="0" y="0"/>
            <a:chExt cx="10813453" cy="603528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813415" cy="6035294"/>
            </a:xfrm>
            <a:custGeom>
              <a:avLst/>
              <a:gdLst/>
              <a:ahLst/>
              <a:cxnLst/>
              <a:rect r="r" b="b" t="t" l="l"/>
              <a:pathLst>
                <a:path h="6035294" w="10813415">
                  <a:moveTo>
                    <a:pt x="0" y="0"/>
                  </a:moveTo>
                  <a:lnTo>
                    <a:pt x="10813415" y="0"/>
                  </a:lnTo>
                  <a:lnTo>
                    <a:pt x="10813415" y="6035294"/>
                  </a:lnTo>
                  <a:lnTo>
                    <a:pt x="0" y="6035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33394" y="1987601"/>
            <a:ext cx="4428677" cy="7342289"/>
            <a:chOff x="0" y="0"/>
            <a:chExt cx="5904903" cy="9789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04865" cy="9789668"/>
            </a:xfrm>
            <a:custGeom>
              <a:avLst/>
              <a:gdLst/>
              <a:ahLst/>
              <a:cxnLst/>
              <a:rect r="r" b="b" t="t" l="l"/>
              <a:pathLst>
                <a:path h="9789668" w="5904865">
                  <a:moveTo>
                    <a:pt x="0" y="188214"/>
                  </a:moveTo>
                  <a:cubicBezTo>
                    <a:pt x="0" y="84328"/>
                    <a:pt x="84328" y="0"/>
                    <a:pt x="188214" y="0"/>
                  </a:cubicBezTo>
                  <a:lnTo>
                    <a:pt x="5716651" y="0"/>
                  </a:lnTo>
                  <a:cubicBezTo>
                    <a:pt x="5820664" y="0"/>
                    <a:pt x="5904865" y="84328"/>
                    <a:pt x="5904865" y="188214"/>
                  </a:cubicBezTo>
                  <a:lnTo>
                    <a:pt x="5904865" y="9601454"/>
                  </a:lnTo>
                  <a:cubicBezTo>
                    <a:pt x="5904865" y="9705467"/>
                    <a:pt x="5820537" y="9789668"/>
                    <a:pt x="5716651" y="9789668"/>
                  </a:cubicBezTo>
                  <a:lnTo>
                    <a:pt x="188214" y="9789668"/>
                  </a:lnTo>
                  <a:cubicBezTo>
                    <a:pt x="84328" y="9789668"/>
                    <a:pt x="0" y="9705467"/>
                    <a:pt x="0" y="9601454"/>
                  </a:cubicBezTo>
                  <a:close/>
                </a:path>
              </a:pathLst>
            </a:custGeom>
            <a:solidFill>
              <a:srgbClr val="BE49DF">
                <a:alpha val="90196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29409" y="3736629"/>
            <a:ext cx="4036666" cy="70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Discount Strategy Reassessment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29409" y="4547597"/>
            <a:ext cx="4036666" cy="188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Average Discount:</a:t>
            </a: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Currently at 7.5%, this strategy is driving growth but impacting margins.</a:t>
            </a:r>
          </a:p>
          <a:p>
            <a:pPr algn="l" marL="226219" indent="-113109" lvl="1">
              <a:lnSpc>
                <a:spcPts val="20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Sales Growth vs. Discount Trend:</a:t>
            </a: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Our growth is heavily correlated with discount levels, suggesting a reliance on price sensitivity.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29409" y="6526111"/>
            <a:ext cx="4036666" cy="105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00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Insight:</a:t>
            </a: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We must shift from blanket discounting to a targeted pricing strategy, coupled with superior service differentiation for our premium customer segments.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85955" y="1549603"/>
            <a:ext cx="683571" cy="233067"/>
            <a:chOff x="0" y="0"/>
            <a:chExt cx="911428" cy="310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1479" cy="310769"/>
            </a:xfrm>
            <a:custGeom>
              <a:avLst/>
              <a:gdLst/>
              <a:ahLst/>
              <a:cxnLst/>
              <a:rect r="r" b="b" t="t" l="l"/>
              <a:pathLst>
                <a:path h="310769" w="911479">
                  <a:moveTo>
                    <a:pt x="0" y="67056"/>
                  </a:moveTo>
                  <a:cubicBezTo>
                    <a:pt x="0" y="29972"/>
                    <a:pt x="29972" y="0"/>
                    <a:pt x="67056" y="0"/>
                  </a:cubicBezTo>
                  <a:lnTo>
                    <a:pt x="844423" y="0"/>
                  </a:lnTo>
                  <a:cubicBezTo>
                    <a:pt x="881380" y="0"/>
                    <a:pt x="911479" y="29972"/>
                    <a:pt x="911479" y="67056"/>
                  </a:cubicBezTo>
                  <a:lnTo>
                    <a:pt x="911479" y="243713"/>
                  </a:lnTo>
                  <a:cubicBezTo>
                    <a:pt x="911479" y="280670"/>
                    <a:pt x="881507" y="310769"/>
                    <a:pt x="844423" y="310769"/>
                  </a:cubicBezTo>
                  <a:lnTo>
                    <a:pt x="67056" y="310769"/>
                  </a:lnTo>
                  <a:cubicBezTo>
                    <a:pt x="29972" y="310769"/>
                    <a:pt x="0" y="280797"/>
                    <a:pt x="0" y="243713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75699" y="1584874"/>
            <a:ext cx="504082" cy="15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ROADMAP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85955" y="1803054"/>
            <a:ext cx="5115077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Strategic Roadmap &amp; Business Impact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5955" y="2341807"/>
            <a:ext cx="2112169" cy="27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Strategic Pillars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81192" y="2694537"/>
            <a:ext cx="2309812" cy="1724768"/>
            <a:chOff x="0" y="0"/>
            <a:chExt cx="3079750" cy="22996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3067050" cy="2287016"/>
            </a:xfrm>
            <a:custGeom>
              <a:avLst/>
              <a:gdLst/>
              <a:ahLst/>
              <a:cxnLst/>
              <a:rect r="r" b="b" t="t" l="l"/>
              <a:pathLst>
                <a:path h="2287016" w="3067050">
                  <a:moveTo>
                    <a:pt x="0" y="83820"/>
                  </a:moveTo>
                  <a:cubicBezTo>
                    <a:pt x="0" y="37465"/>
                    <a:pt x="37592" y="0"/>
                    <a:pt x="83947" y="0"/>
                  </a:cubicBezTo>
                  <a:lnTo>
                    <a:pt x="2983103" y="0"/>
                  </a:lnTo>
                  <a:cubicBezTo>
                    <a:pt x="3029458" y="0"/>
                    <a:pt x="3067050" y="37465"/>
                    <a:pt x="3067050" y="83820"/>
                  </a:cubicBezTo>
                  <a:lnTo>
                    <a:pt x="3067050" y="2203196"/>
                  </a:lnTo>
                  <a:cubicBezTo>
                    <a:pt x="3067050" y="2249424"/>
                    <a:pt x="3029458" y="2287016"/>
                    <a:pt x="2983103" y="2287016"/>
                  </a:cubicBezTo>
                  <a:lnTo>
                    <a:pt x="83947" y="2287016"/>
                  </a:lnTo>
                  <a:cubicBezTo>
                    <a:pt x="37592" y="2287016"/>
                    <a:pt x="0" y="2249551"/>
                    <a:pt x="0" y="2203196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79750" cy="2299716"/>
            </a:xfrm>
            <a:custGeom>
              <a:avLst/>
              <a:gdLst/>
              <a:ahLst/>
              <a:cxnLst/>
              <a:rect r="r" b="b" t="t" l="l"/>
              <a:pathLst>
                <a:path h="2299716" w="3079750">
                  <a:moveTo>
                    <a:pt x="0" y="90170"/>
                  </a:moveTo>
                  <a:cubicBezTo>
                    <a:pt x="0" y="40386"/>
                    <a:pt x="40386" y="0"/>
                    <a:pt x="90297" y="0"/>
                  </a:cubicBezTo>
                  <a:lnTo>
                    <a:pt x="2989453" y="0"/>
                  </a:lnTo>
                  <a:lnTo>
                    <a:pt x="2989453" y="6350"/>
                  </a:lnTo>
                  <a:lnTo>
                    <a:pt x="2989453" y="0"/>
                  </a:lnTo>
                  <a:cubicBezTo>
                    <a:pt x="3039237" y="0"/>
                    <a:pt x="3079750" y="40386"/>
                    <a:pt x="3079750" y="90170"/>
                  </a:cubicBezTo>
                  <a:lnTo>
                    <a:pt x="3073400" y="90170"/>
                  </a:lnTo>
                  <a:lnTo>
                    <a:pt x="3079750" y="90170"/>
                  </a:lnTo>
                  <a:lnTo>
                    <a:pt x="3079750" y="2209546"/>
                  </a:lnTo>
                  <a:lnTo>
                    <a:pt x="3073400" y="2209546"/>
                  </a:lnTo>
                  <a:lnTo>
                    <a:pt x="3079750" y="2209546"/>
                  </a:lnTo>
                  <a:cubicBezTo>
                    <a:pt x="3079750" y="2259330"/>
                    <a:pt x="3039364" y="2299716"/>
                    <a:pt x="2989453" y="2299716"/>
                  </a:cubicBezTo>
                  <a:lnTo>
                    <a:pt x="2989453" y="2293366"/>
                  </a:lnTo>
                  <a:lnTo>
                    <a:pt x="2989453" y="2299716"/>
                  </a:lnTo>
                  <a:lnTo>
                    <a:pt x="90297" y="2299716"/>
                  </a:lnTo>
                  <a:lnTo>
                    <a:pt x="90297" y="2293366"/>
                  </a:lnTo>
                  <a:lnTo>
                    <a:pt x="90297" y="2299716"/>
                  </a:lnTo>
                  <a:cubicBezTo>
                    <a:pt x="40513" y="2299716"/>
                    <a:pt x="0" y="2259330"/>
                    <a:pt x="0" y="2209546"/>
                  </a:cubicBezTo>
                  <a:lnTo>
                    <a:pt x="0" y="90170"/>
                  </a:lnTo>
                  <a:lnTo>
                    <a:pt x="6350" y="90170"/>
                  </a:lnTo>
                  <a:lnTo>
                    <a:pt x="0" y="90170"/>
                  </a:lnTo>
                  <a:moveTo>
                    <a:pt x="12700" y="90170"/>
                  </a:moveTo>
                  <a:lnTo>
                    <a:pt x="12700" y="2209546"/>
                  </a:lnTo>
                  <a:lnTo>
                    <a:pt x="6350" y="2209546"/>
                  </a:lnTo>
                  <a:lnTo>
                    <a:pt x="12700" y="2209546"/>
                  </a:lnTo>
                  <a:cubicBezTo>
                    <a:pt x="12700" y="2252345"/>
                    <a:pt x="47371" y="2287016"/>
                    <a:pt x="90297" y="2287016"/>
                  </a:cubicBezTo>
                  <a:lnTo>
                    <a:pt x="2989453" y="2287016"/>
                  </a:lnTo>
                  <a:cubicBezTo>
                    <a:pt x="3032252" y="2287016"/>
                    <a:pt x="3067050" y="2252345"/>
                    <a:pt x="3067050" y="2209546"/>
                  </a:cubicBezTo>
                  <a:lnTo>
                    <a:pt x="3067050" y="90170"/>
                  </a:lnTo>
                  <a:cubicBezTo>
                    <a:pt x="3067050" y="47371"/>
                    <a:pt x="3032379" y="12700"/>
                    <a:pt x="2989453" y="12700"/>
                  </a:cubicBezTo>
                  <a:lnTo>
                    <a:pt x="90297" y="12700"/>
                  </a:lnTo>
                  <a:lnTo>
                    <a:pt x="90297" y="6350"/>
                  </a:lnTo>
                  <a:lnTo>
                    <a:pt x="90297" y="12700"/>
                  </a:lnTo>
                  <a:cubicBezTo>
                    <a:pt x="47371" y="12700"/>
                    <a:pt x="12700" y="47371"/>
                    <a:pt x="12700" y="9017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51" y="2858395"/>
            <a:ext cx="448713" cy="448713"/>
            <a:chOff x="0" y="0"/>
            <a:chExt cx="598284" cy="598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4568428" y="2981620"/>
            <a:ext cx="201959" cy="201959"/>
          </a:xfrm>
          <a:custGeom>
            <a:avLst/>
            <a:gdLst/>
            <a:ahLst/>
            <a:cxnLst/>
            <a:rect r="r" b="b" t="t" l="l"/>
            <a:pathLst>
              <a:path h="201959" w="201959">
                <a:moveTo>
                  <a:pt x="0" y="0"/>
                </a:moveTo>
                <a:lnTo>
                  <a:pt x="201959" y="0"/>
                </a:lnTo>
                <a:lnTo>
                  <a:pt x="201959" y="201959"/>
                </a:lnTo>
                <a:lnTo>
                  <a:pt x="0" y="201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546" t="0" r="-454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45051" y="3381823"/>
            <a:ext cx="1982095" cy="43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Inventory Optimisation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45051" y="3896468"/>
            <a:ext cx="1982095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Balance stock, reduce capital lock.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56184" y="2694537"/>
            <a:ext cx="2309965" cy="1724768"/>
            <a:chOff x="0" y="0"/>
            <a:chExt cx="3079953" cy="22996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3067304" cy="2287016"/>
            </a:xfrm>
            <a:custGeom>
              <a:avLst/>
              <a:gdLst/>
              <a:ahLst/>
              <a:cxnLst/>
              <a:rect r="r" b="b" t="t" l="l"/>
              <a:pathLst>
                <a:path h="2287016" w="3067304">
                  <a:moveTo>
                    <a:pt x="0" y="83820"/>
                  </a:moveTo>
                  <a:cubicBezTo>
                    <a:pt x="0" y="37465"/>
                    <a:pt x="37592" y="0"/>
                    <a:pt x="83947" y="0"/>
                  </a:cubicBezTo>
                  <a:lnTo>
                    <a:pt x="2983357" y="0"/>
                  </a:lnTo>
                  <a:cubicBezTo>
                    <a:pt x="3029712" y="0"/>
                    <a:pt x="3067304" y="37465"/>
                    <a:pt x="3067304" y="83820"/>
                  </a:cubicBezTo>
                  <a:lnTo>
                    <a:pt x="3067304" y="2203196"/>
                  </a:lnTo>
                  <a:cubicBezTo>
                    <a:pt x="3067304" y="2249424"/>
                    <a:pt x="3029712" y="2287016"/>
                    <a:pt x="2983357" y="2287016"/>
                  </a:cubicBezTo>
                  <a:lnTo>
                    <a:pt x="83947" y="2287016"/>
                  </a:lnTo>
                  <a:cubicBezTo>
                    <a:pt x="37592" y="2287016"/>
                    <a:pt x="0" y="2249551"/>
                    <a:pt x="0" y="2203196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80004" cy="2299716"/>
            </a:xfrm>
            <a:custGeom>
              <a:avLst/>
              <a:gdLst/>
              <a:ahLst/>
              <a:cxnLst/>
              <a:rect r="r" b="b" t="t" l="l"/>
              <a:pathLst>
                <a:path h="2299716" w="3080004">
                  <a:moveTo>
                    <a:pt x="0" y="90170"/>
                  </a:moveTo>
                  <a:cubicBezTo>
                    <a:pt x="0" y="40386"/>
                    <a:pt x="40386" y="0"/>
                    <a:pt x="90297" y="0"/>
                  </a:cubicBezTo>
                  <a:lnTo>
                    <a:pt x="2989707" y="0"/>
                  </a:lnTo>
                  <a:lnTo>
                    <a:pt x="2989707" y="6350"/>
                  </a:lnTo>
                  <a:lnTo>
                    <a:pt x="2989707" y="0"/>
                  </a:lnTo>
                  <a:cubicBezTo>
                    <a:pt x="3039491" y="0"/>
                    <a:pt x="3080004" y="40386"/>
                    <a:pt x="3080004" y="90170"/>
                  </a:cubicBezTo>
                  <a:lnTo>
                    <a:pt x="3073654" y="90170"/>
                  </a:lnTo>
                  <a:lnTo>
                    <a:pt x="3080004" y="90170"/>
                  </a:lnTo>
                  <a:lnTo>
                    <a:pt x="3080004" y="2209546"/>
                  </a:lnTo>
                  <a:lnTo>
                    <a:pt x="3073654" y="2209546"/>
                  </a:lnTo>
                  <a:lnTo>
                    <a:pt x="3080004" y="2209546"/>
                  </a:lnTo>
                  <a:cubicBezTo>
                    <a:pt x="3080004" y="2259330"/>
                    <a:pt x="3039618" y="2299716"/>
                    <a:pt x="2989707" y="2299716"/>
                  </a:cubicBezTo>
                  <a:lnTo>
                    <a:pt x="2989707" y="2293366"/>
                  </a:lnTo>
                  <a:lnTo>
                    <a:pt x="2989707" y="2299716"/>
                  </a:lnTo>
                  <a:lnTo>
                    <a:pt x="90297" y="2299716"/>
                  </a:lnTo>
                  <a:lnTo>
                    <a:pt x="90297" y="2293366"/>
                  </a:lnTo>
                  <a:lnTo>
                    <a:pt x="90297" y="2299716"/>
                  </a:lnTo>
                  <a:cubicBezTo>
                    <a:pt x="40513" y="2299716"/>
                    <a:pt x="0" y="2259330"/>
                    <a:pt x="0" y="2209546"/>
                  </a:cubicBezTo>
                  <a:lnTo>
                    <a:pt x="0" y="90170"/>
                  </a:lnTo>
                  <a:lnTo>
                    <a:pt x="6350" y="90170"/>
                  </a:lnTo>
                  <a:lnTo>
                    <a:pt x="0" y="90170"/>
                  </a:lnTo>
                  <a:moveTo>
                    <a:pt x="12700" y="90170"/>
                  </a:moveTo>
                  <a:lnTo>
                    <a:pt x="12700" y="2209546"/>
                  </a:lnTo>
                  <a:lnTo>
                    <a:pt x="6350" y="2209546"/>
                  </a:lnTo>
                  <a:lnTo>
                    <a:pt x="12700" y="2209546"/>
                  </a:lnTo>
                  <a:cubicBezTo>
                    <a:pt x="12700" y="2252345"/>
                    <a:pt x="47371" y="2287016"/>
                    <a:pt x="90297" y="2287016"/>
                  </a:cubicBezTo>
                  <a:lnTo>
                    <a:pt x="2989707" y="2287016"/>
                  </a:lnTo>
                  <a:cubicBezTo>
                    <a:pt x="3032506" y="2287016"/>
                    <a:pt x="3067304" y="2252345"/>
                    <a:pt x="3067304" y="2209546"/>
                  </a:cubicBezTo>
                  <a:lnTo>
                    <a:pt x="3067304" y="90170"/>
                  </a:lnTo>
                  <a:cubicBezTo>
                    <a:pt x="3067304" y="47371"/>
                    <a:pt x="3032633" y="12700"/>
                    <a:pt x="2989707" y="12700"/>
                  </a:cubicBezTo>
                  <a:lnTo>
                    <a:pt x="90297" y="12700"/>
                  </a:lnTo>
                  <a:lnTo>
                    <a:pt x="90297" y="6350"/>
                  </a:lnTo>
                  <a:lnTo>
                    <a:pt x="90297" y="12700"/>
                  </a:lnTo>
                  <a:cubicBezTo>
                    <a:pt x="47371" y="12700"/>
                    <a:pt x="12700" y="47371"/>
                    <a:pt x="12700" y="9017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20052" y="2858395"/>
            <a:ext cx="448713" cy="448713"/>
            <a:chOff x="0" y="0"/>
            <a:chExt cx="598284" cy="5982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6943430" y="2981620"/>
            <a:ext cx="201959" cy="201959"/>
          </a:xfrm>
          <a:custGeom>
            <a:avLst/>
            <a:gdLst/>
            <a:ahLst/>
            <a:cxnLst/>
            <a:rect r="r" b="b" t="t" l="l"/>
            <a:pathLst>
              <a:path h="201959" w="201959">
                <a:moveTo>
                  <a:pt x="0" y="0"/>
                </a:moveTo>
                <a:lnTo>
                  <a:pt x="201958" y="0"/>
                </a:lnTo>
                <a:lnTo>
                  <a:pt x="201958" y="201959"/>
                </a:lnTo>
                <a:lnTo>
                  <a:pt x="0" y="2019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820052" y="3381823"/>
            <a:ext cx="1923012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Smart Pricing Strategy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0052" y="3676498"/>
            <a:ext cx="1982238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Targeted discounting, value differentiation.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281192" y="4484484"/>
            <a:ext cx="2309812" cy="1545279"/>
            <a:chOff x="0" y="0"/>
            <a:chExt cx="3079750" cy="20603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3067050" cy="2047748"/>
            </a:xfrm>
            <a:custGeom>
              <a:avLst/>
              <a:gdLst/>
              <a:ahLst/>
              <a:cxnLst/>
              <a:rect r="r" b="b" t="t" l="l"/>
              <a:pathLst>
                <a:path h="2047748" w="3067050">
                  <a:moveTo>
                    <a:pt x="0" y="83820"/>
                  </a:moveTo>
                  <a:cubicBezTo>
                    <a:pt x="0" y="37465"/>
                    <a:pt x="37592" y="0"/>
                    <a:pt x="83947" y="0"/>
                  </a:cubicBezTo>
                  <a:lnTo>
                    <a:pt x="2983103" y="0"/>
                  </a:lnTo>
                  <a:cubicBezTo>
                    <a:pt x="3029458" y="0"/>
                    <a:pt x="3067050" y="37465"/>
                    <a:pt x="3067050" y="83820"/>
                  </a:cubicBezTo>
                  <a:lnTo>
                    <a:pt x="3067050" y="1963928"/>
                  </a:lnTo>
                  <a:cubicBezTo>
                    <a:pt x="3067050" y="2010156"/>
                    <a:pt x="3029458" y="2047748"/>
                    <a:pt x="2983103" y="2047748"/>
                  </a:cubicBezTo>
                  <a:lnTo>
                    <a:pt x="83947" y="2047748"/>
                  </a:lnTo>
                  <a:cubicBezTo>
                    <a:pt x="37592" y="2047748"/>
                    <a:pt x="0" y="2010283"/>
                    <a:pt x="0" y="1963928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79750" cy="2060448"/>
            </a:xfrm>
            <a:custGeom>
              <a:avLst/>
              <a:gdLst/>
              <a:ahLst/>
              <a:cxnLst/>
              <a:rect r="r" b="b" t="t" l="l"/>
              <a:pathLst>
                <a:path h="2060448" w="3079750">
                  <a:moveTo>
                    <a:pt x="0" y="90170"/>
                  </a:moveTo>
                  <a:cubicBezTo>
                    <a:pt x="0" y="40386"/>
                    <a:pt x="40386" y="0"/>
                    <a:pt x="90297" y="0"/>
                  </a:cubicBezTo>
                  <a:lnTo>
                    <a:pt x="2989453" y="0"/>
                  </a:lnTo>
                  <a:lnTo>
                    <a:pt x="2989453" y="6350"/>
                  </a:lnTo>
                  <a:lnTo>
                    <a:pt x="2989453" y="0"/>
                  </a:lnTo>
                  <a:cubicBezTo>
                    <a:pt x="3039364" y="0"/>
                    <a:pt x="3079750" y="40386"/>
                    <a:pt x="3079750" y="90170"/>
                  </a:cubicBezTo>
                  <a:lnTo>
                    <a:pt x="3073400" y="90170"/>
                  </a:lnTo>
                  <a:lnTo>
                    <a:pt x="3079750" y="90170"/>
                  </a:lnTo>
                  <a:lnTo>
                    <a:pt x="3079750" y="1970278"/>
                  </a:lnTo>
                  <a:lnTo>
                    <a:pt x="3073400" y="1970278"/>
                  </a:lnTo>
                  <a:lnTo>
                    <a:pt x="3079750" y="1970278"/>
                  </a:lnTo>
                  <a:cubicBezTo>
                    <a:pt x="3079750" y="2020062"/>
                    <a:pt x="3039364" y="2060448"/>
                    <a:pt x="2989453" y="2060448"/>
                  </a:cubicBezTo>
                  <a:lnTo>
                    <a:pt x="2989453" y="2054098"/>
                  </a:lnTo>
                  <a:lnTo>
                    <a:pt x="2989453" y="2060448"/>
                  </a:lnTo>
                  <a:lnTo>
                    <a:pt x="90297" y="2060448"/>
                  </a:lnTo>
                  <a:lnTo>
                    <a:pt x="90297" y="2054098"/>
                  </a:lnTo>
                  <a:lnTo>
                    <a:pt x="90297" y="2060448"/>
                  </a:lnTo>
                  <a:cubicBezTo>
                    <a:pt x="40386" y="2060448"/>
                    <a:pt x="0" y="2020062"/>
                    <a:pt x="0" y="1970278"/>
                  </a:cubicBezTo>
                  <a:lnTo>
                    <a:pt x="0" y="90170"/>
                  </a:lnTo>
                  <a:lnTo>
                    <a:pt x="6350" y="90170"/>
                  </a:lnTo>
                  <a:lnTo>
                    <a:pt x="0" y="90170"/>
                  </a:lnTo>
                  <a:moveTo>
                    <a:pt x="12700" y="90170"/>
                  </a:moveTo>
                  <a:lnTo>
                    <a:pt x="12700" y="1970278"/>
                  </a:lnTo>
                  <a:lnTo>
                    <a:pt x="6350" y="1970278"/>
                  </a:lnTo>
                  <a:lnTo>
                    <a:pt x="12700" y="1970278"/>
                  </a:lnTo>
                  <a:cubicBezTo>
                    <a:pt x="12700" y="2013077"/>
                    <a:pt x="47498" y="2047748"/>
                    <a:pt x="90297" y="2047748"/>
                  </a:cubicBezTo>
                  <a:lnTo>
                    <a:pt x="2989453" y="2047748"/>
                  </a:lnTo>
                  <a:cubicBezTo>
                    <a:pt x="3032379" y="2047748"/>
                    <a:pt x="3067050" y="2013077"/>
                    <a:pt x="3067050" y="1970278"/>
                  </a:cubicBezTo>
                  <a:lnTo>
                    <a:pt x="3067050" y="90170"/>
                  </a:lnTo>
                  <a:cubicBezTo>
                    <a:pt x="3067050" y="47371"/>
                    <a:pt x="3032252" y="12700"/>
                    <a:pt x="2989453" y="12700"/>
                  </a:cubicBezTo>
                  <a:lnTo>
                    <a:pt x="90297" y="12700"/>
                  </a:lnTo>
                  <a:lnTo>
                    <a:pt x="90297" y="6350"/>
                  </a:lnTo>
                  <a:lnTo>
                    <a:pt x="90297" y="12700"/>
                  </a:lnTo>
                  <a:cubicBezTo>
                    <a:pt x="47498" y="12700"/>
                    <a:pt x="12700" y="47371"/>
                    <a:pt x="12700" y="9017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445051" y="4648352"/>
            <a:ext cx="448713" cy="448713"/>
            <a:chOff x="0" y="0"/>
            <a:chExt cx="598284" cy="5982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4568428" y="4771577"/>
            <a:ext cx="201959" cy="201959"/>
          </a:xfrm>
          <a:custGeom>
            <a:avLst/>
            <a:gdLst/>
            <a:ahLst/>
            <a:cxnLst/>
            <a:rect r="r" b="b" t="t" l="l"/>
            <a:pathLst>
              <a:path h="201959" w="201959">
                <a:moveTo>
                  <a:pt x="0" y="0"/>
                </a:moveTo>
                <a:lnTo>
                  <a:pt x="201959" y="0"/>
                </a:lnTo>
                <a:lnTo>
                  <a:pt x="201959" y="201959"/>
                </a:lnTo>
                <a:lnTo>
                  <a:pt x="0" y="20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727" t="0" r="-22727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445051" y="5171780"/>
            <a:ext cx="1911991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Logistics Optimisation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45051" y="5466455"/>
            <a:ext cx="1982095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 courier SLAs, regional efficiency.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56184" y="4484484"/>
            <a:ext cx="2309965" cy="1545279"/>
            <a:chOff x="0" y="0"/>
            <a:chExt cx="3079953" cy="20603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3067177" cy="2047748"/>
            </a:xfrm>
            <a:custGeom>
              <a:avLst/>
              <a:gdLst/>
              <a:ahLst/>
              <a:cxnLst/>
              <a:rect r="r" b="b" t="t" l="l"/>
              <a:pathLst>
                <a:path h="2047748" w="3067177">
                  <a:moveTo>
                    <a:pt x="0" y="83820"/>
                  </a:moveTo>
                  <a:cubicBezTo>
                    <a:pt x="0" y="37465"/>
                    <a:pt x="37592" y="0"/>
                    <a:pt x="83947" y="0"/>
                  </a:cubicBezTo>
                  <a:lnTo>
                    <a:pt x="2983230" y="0"/>
                  </a:lnTo>
                  <a:cubicBezTo>
                    <a:pt x="3029585" y="0"/>
                    <a:pt x="3067177" y="37465"/>
                    <a:pt x="3067177" y="83820"/>
                  </a:cubicBezTo>
                  <a:lnTo>
                    <a:pt x="3067177" y="1963928"/>
                  </a:lnTo>
                  <a:cubicBezTo>
                    <a:pt x="3067177" y="2010156"/>
                    <a:pt x="3029585" y="2047748"/>
                    <a:pt x="2983230" y="2047748"/>
                  </a:cubicBezTo>
                  <a:lnTo>
                    <a:pt x="83947" y="2047748"/>
                  </a:lnTo>
                  <a:cubicBezTo>
                    <a:pt x="37592" y="2047748"/>
                    <a:pt x="0" y="2010283"/>
                    <a:pt x="0" y="1963928"/>
                  </a:cubicBezTo>
                  <a:close/>
                </a:path>
              </a:pathLst>
            </a:custGeom>
            <a:solidFill>
              <a:srgbClr val="F0D4F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79877" cy="2060448"/>
            </a:xfrm>
            <a:custGeom>
              <a:avLst/>
              <a:gdLst/>
              <a:ahLst/>
              <a:cxnLst/>
              <a:rect r="r" b="b" t="t" l="l"/>
              <a:pathLst>
                <a:path h="2060448" w="3079877">
                  <a:moveTo>
                    <a:pt x="0" y="90170"/>
                  </a:moveTo>
                  <a:cubicBezTo>
                    <a:pt x="0" y="40386"/>
                    <a:pt x="40386" y="0"/>
                    <a:pt x="90297" y="0"/>
                  </a:cubicBezTo>
                  <a:lnTo>
                    <a:pt x="2989580" y="0"/>
                  </a:lnTo>
                  <a:lnTo>
                    <a:pt x="2989580" y="6350"/>
                  </a:lnTo>
                  <a:lnTo>
                    <a:pt x="2989580" y="0"/>
                  </a:lnTo>
                  <a:cubicBezTo>
                    <a:pt x="3039491" y="0"/>
                    <a:pt x="3079877" y="40386"/>
                    <a:pt x="3079877" y="90170"/>
                  </a:cubicBezTo>
                  <a:lnTo>
                    <a:pt x="3073527" y="90170"/>
                  </a:lnTo>
                  <a:lnTo>
                    <a:pt x="3079877" y="90170"/>
                  </a:lnTo>
                  <a:lnTo>
                    <a:pt x="3079877" y="1970278"/>
                  </a:lnTo>
                  <a:lnTo>
                    <a:pt x="3073527" y="1970278"/>
                  </a:lnTo>
                  <a:lnTo>
                    <a:pt x="3079877" y="1970278"/>
                  </a:lnTo>
                  <a:cubicBezTo>
                    <a:pt x="3079877" y="2020062"/>
                    <a:pt x="3039491" y="2060448"/>
                    <a:pt x="2989580" y="2060448"/>
                  </a:cubicBezTo>
                  <a:lnTo>
                    <a:pt x="2989580" y="2054098"/>
                  </a:lnTo>
                  <a:lnTo>
                    <a:pt x="2989580" y="2060448"/>
                  </a:lnTo>
                  <a:lnTo>
                    <a:pt x="90297" y="2060448"/>
                  </a:lnTo>
                  <a:lnTo>
                    <a:pt x="90297" y="2054098"/>
                  </a:lnTo>
                  <a:lnTo>
                    <a:pt x="90297" y="2060448"/>
                  </a:lnTo>
                  <a:cubicBezTo>
                    <a:pt x="40386" y="2060448"/>
                    <a:pt x="0" y="2020062"/>
                    <a:pt x="0" y="1970278"/>
                  </a:cubicBezTo>
                  <a:lnTo>
                    <a:pt x="0" y="90170"/>
                  </a:lnTo>
                  <a:lnTo>
                    <a:pt x="6350" y="90170"/>
                  </a:lnTo>
                  <a:lnTo>
                    <a:pt x="0" y="90170"/>
                  </a:lnTo>
                  <a:moveTo>
                    <a:pt x="12700" y="90170"/>
                  </a:moveTo>
                  <a:lnTo>
                    <a:pt x="12700" y="1970278"/>
                  </a:lnTo>
                  <a:lnTo>
                    <a:pt x="6350" y="1970278"/>
                  </a:lnTo>
                  <a:lnTo>
                    <a:pt x="12700" y="1970278"/>
                  </a:lnTo>
                  <a:cubicBezTo>
                    <a:pt x="12700" y="2013077"/>
                    <a:pt x="47498" y="2047748"/>
                    <a:pt x="90297" y="2047748"/>
                  </a:cubicBezTo>
                  <a:lnTo>
                    <a:pt x="2989580" y="2047748"/>
                  </a:lnTo>
                  <a:cubicBezTo>
                    <a:pt x="3032506" y="2047748"/>
                    <a:pt x="3067177" y="2013077"/>
                    <a:pt x="3067177" y="1970278"/>
                  </a:cubicBezTo>
                  <a:lnTo>
                    <a:pt x="3067177" y="90170"/>
                  </a:lnTo>
                  <a:cubicBezTo>
                    <a:pt x="3067177" y="47371"/>
                    <a:pt x="3032379" y="12700"/>
                    <a:pt x="2989580" y="12700"/>
                  </a:cubicBezTo>
                  <a:lnTo>
                    <a:pt x="90297" y="12700"/>
                  </a:lnTo>
                  <a:lnTo>
                    <a:pt x="90297" y="6350"/>
                  </a:lnTo>
                  <a:lnTo>
                    <a:pt x="90297" y="12700"/>
                  </a:lnTo>
                  <a:cubicBezTo>
                    <a:pt x="47498" y="12700"/>
                    <a:pt x="12700" y="47371"/>
                    <a:pt x="12700" y="9017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20052" y="4648352"/>
            <a:ext cx="448713" cy="448713"/>
            <a:chOff x="0" y="0"/>
            <a:chExt cx="598284" cy="5982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6943430" y="4771577"/>
            <a:ext cx="201959" cy="201959"/>
          </a:xfrm>
          <a:custGeom>
            <a:avLst/>
            <a:gdLst/>
            <a:ahLst/>
            <a:cxnLst/>
            <a:rect r="r" b="b" t="t" l="l"/>
            <a:pathLst>
              <a:path h="201959" w="201959">
                <a:moveTo>
                  <a:pt x="0" y="0"/>
                </a:moveTo>
                <a:lnTo>
                  <a:pt x="201958" y="0"/>
                </a:lnTo>
                <a:lnTo>
                  <a:pt x="201958" y="201959"/>
                </a:lnTo>
                <a:lnTo>
                  <a:pt x="0" y="2019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5001" r="0" b="-25001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820052" y="5171780"/>
            <a:ext cx="1982238" cy="43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Expansion in High-Demand States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20052" y="5686425"/>
            <a:ext cx="1982238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Micro-warehouses for speed.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5843" y="2341807"/>
            <a:ext cx="2649436" cy="27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Expected Business Impact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26318" y="2689774"/>
            <a:ext cx="2319338" cy="1189434"/>
            <a:chOff x="0" y="0"/>
            <a:chExt cx="3092450" cy="15859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3067050" cy="1560449"/>
            </a:xfrm>
            <a:custGeom>
              <a:avLst/>
              <a:gdLst/>
              <a:ahLst/>
              <a:cxnLst/>
              <a:rect r="r" b="b" t="t" l="l"/>
              <a:pathLst>
                <a:path h="1560449" w="3067050">
                  <a:moveTo>
                    <a:pt x="0" y="121920"/>
                  </a:moveTo>
                  <a:cubicBezTo>
                    <a:pt x="0" y="54610"/>
                    <a:pt x="54991" y="0"/>
                    <a:pt x="122936" y="0"/>
                  </a:cubicBezTo>
                  <a:lnTo>
                    <a:pt x="2944114" y="0"/>
                  </a:lnTo>
                  <a:cubicBezTo>
                    <a:pt x="3011932" y="0"/>
                    <a:pt x="3067050" y="54610"/>
                    <a:pt x="3067050" y="121920"/>
                  </a:cubicBezTo>
                  <a:lnTo>
                    <a:pt x="3067050" y="1438529"/>
                  </a:lnTo>
                  <a:cubicBezTo>
                    <a:pt x="3067050" y="1505839"/>
                    <a:pt x="3012059" y="1560449"/>
                    <a:pt x="2944114" y="1560449"/>
                  </a:cubicBezTo>
                  <a:lnTo>
                    <a:pt x="122936" y="1560449"/>
                  </a:lnTo>
                  <a:cubicBezTo>
                    <a:pt x="55118" y="1560449"/>
                    <a:pt x="0" y="1505839"/>
                    <a:pt x="0" y="14385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92450" cy="1585849"/>
            </a:xfrm>
            <a:custGeom>
              <a:avLst/>
              <a:gdLst/>
              <a:ahLst/>
              <a:cxnLst/>
              <a:rect r="r" b="b" t="t" l="l"/>
              <a:pathLst>
                <a:path h="1585849" w="3092450">
                  <a:moveTo>
                    <a:pt x="0" y="134620"/>
                  </a:moveTo>
                  <a:cubicBezTo>
                    <a:pt x="0" y="60198"/>
                    <a:pt x="60833" y="0"/>
                    <a:pt x="135636" y="0"/>
                  </a:cubicBezTo>
                  <a:lnTo>
                    <a:pt x="2956814" y="0"/>
                  </a:lnTo>
                  <a:lnTo>
                    <a:pt x="2956814" y="12700"/>
                  </a:lnTo>
                  <a:lnTo>
                    <a:pt x="2956814" y="0"/>
                  </a:lnTo>
                  <a:cubicBezTo>
                    <a:pt x="3031617" y="0"/>
                    <a:pt x="3092450" y="60198"/>
                    <a:pt x="3092450" y="134620"/>
                  </a:cubicBezTo>
                  <a:lnTo>
                    <a:pt x="3079750" y="134620"/>
                  </a:lnTo>
                  <a:lnTo>
                    <a:pt x="3092450" y="134620"/>
                  </a:lnTo>
                  <a:lnTo>
                    <a:pt x="3092450" y="1451229"/>
                  </a:lnTo>
                  <a:lnTo>
                    <a:pt x="3079750" y="1451229"/>
                  </a:lnTo>
                  <a:lnTo>
                    <a:pt x="3092450" y="1451229"/>
                  </a:lnTo>
                  <a:cubicBezTo>
                    <a:pt x="3092450" y="1525651"/>
                    <a:pt x="3031617" y="1585849"/>
                    <a:pt x="2956814" y="1585849"/>
                  </a:cubicBezTo>
                  <a:lnTo>
                    <a:pt x="2956814" y="1573149"/>
                  </a:lnTo>
                  <a:lnTo>
                    <a:pt x="2956814" y="1585849"/>
                  </a:lnTo>
                  <a:lnTo>
                    <a:pt x="135636" y="1585849"/>
                  </a:lnTo>
                  <a:lnTo>
                    <a:pt x="135636" y="1573149"/>
                  </a:lnTo>
                  <a:lnTo>
                    <a:pt x="135636" y="1585849"/>
                  </a:lnTo>
                  <a:cubicBezTo>
                    <a:pt x="60833" y="1585976"/>
                    <a:pt x="0" y="1525778"/>
                    <a:pt x="0" y="1451229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51229"/>
                  </a:lnTo>
                  <a:lnTo>
                    <a:pt x="12700" y="1451229"/>
                  </a:lnTo>
                  <a:lnTo>
                    <a:pt x="25400" y="1451229"/>
                  </a:lnTo>
                  <a:cubicBezTo>
                    <a:pt x="25400" y="1511427"/>
                    <a:pt x="74676" y="1560449"/>
                    <a:pt x="135636" y="1560449"/>
                  </a:cubicBezTo>
                  <a:lnTo>
                    <a:pt x="2956814" y="1560449"/>
                  </a:lnTo>
                  <a:cubicBezTo>
                    <a:pt x="3017774" y="1560449"/>
                    <a:pt x="3067050" y="1511427"/>
                    <a:pt x="3067050" y="1451229"/>
                  </a:cubicBezTo>
                  <a:lnTo>
                    <a:pt x="3067050" y="134620"/>
                  </a:lnTo>
                  <a:cubicBezTo>
                    <a:pt x="3067050" y="74422"/>
                    <a:pt x="3017774" y="25400"/>
                    <a:pt x="2956814" y="25400"/>
                  </a:cubicBezTo>
                  <a:lnTo>
                    <a:pt x="135636" y="25400"/>
                  </a:lnTo>
                  <a:lnTo>
                    <a:pt x="135636" y="12700"/>
                  </a:lnTo>
                  <a:lnTo>
                    <a:pt x="135636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16793" y="2699299"/>
            <a:ext cx="76200" cy="1170384"/>
            <a:chOff x="0" y="0"/>
            <a:chExt cx="101600" cy="15605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600" cy="1560576"/>
            </a:xfrm>
            <a:custGeom>
              <a:avLst/>
              <a:gdLst/>
              <a:ahLst/>
              <a:cxnLst/>
              <a:rect r="r" b="b" t="t" l="l"/>
              <a:pathLst>
                <a:path h="1560576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509776"/>
                  </a:lnTo>
                  <a:cubicBezTo>
                    <a:pt x="101600" y="1537843"/>
                    <a:pt x="78867" y="1560576"/>
                    <a:pt x="50800" y="1560576"/>
                  </a:cubicBezTo>
                  <a:cubicBezTo>
                    <a:pt x="22733" y="1560576"/>
                    <a:pt x="0" y="1537843"/>
                    <a:pt x="0" y="1509776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561614" y="2867920"/>
            <a:ext cx="1760039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Revenue Uplift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61614" y="3162595"/>
            <a:ext cx="1905895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3-5% increase through better stock availability and pricing.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701310" y="2689774"/>
            <a:ext cx="2319490" cy="1189434"/>
            <a:chOff x="0" y="0"/>
            <a:chExt cx="3092653" cy="1585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3067304" cy="1560449"/>
            </a:xfrm>
            <a:custGeom>
              <a:avLst/>
              <a:gdLst/>
              <a:ahLst/>
              <a:cxnLst/>
              <a:rect r="r" b="b" t="t" l="l"/>
              <a:pathLst>
                <a:path h="1560449" w="3067304">
                  <a:moveTo>
                    <a:pt x="0" y="121920"/>
                  </a:moveTo>
                  <a:cubicBezTo>
                    <a:pt x="0" y="54610"/>
                    <a:pt x="54991" y="0"/>
                    <a:pt x="122936" y="0"/>
                  </a:cubicBezTo>
                  <a:lnTo>
                    <a:pt x="2944368" y="0"/>
                  </a:lnTo>
                  <a:cubicBezTo>
                    <a:pt x="3012186" y="0"/>
                    <a:pt x="3067304" y="54610"/>
                    <a:pt x="3067304" y="121920"/>
                  </a:cubicBezTo>
                  <a:lnTo>
                    <a:pt x="3067304" y="1438529"/>
                  </a:lnTo>
                  <a:cubicBezTo>
                    <a:pt x="3067304" y="1505839"/>
                    <a:pt x="3012313" y="1560449"/>
                    <a:pt x="2944368" y="1560449"/>
                  </a:cubicBezTo>
                  <a:lnTo>
                    <a:pt x="122936" y="1560449"/>
                  </a:lnTo>
                  <a:cubicBezTo>
                    <a:pt x="55118" y="1560449"/>
                    <a:pt x="0" y="1505839"/>
                    <a:pt x="0" y="14385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92704" cy="1585849"/>
            </a:xfrm>
            <a:custGeom>
              <a:avLst/>
              <a:gdLst/>
              <a:ahLst/>
              <a:cxnLst/>
              <a:rect r="r" b="b" t="t" l="l"/>
              <a:pathLst>
                <a:path h="1585849" w="3092704">
                  <a:moveTo>
                    <a:pt x="0" y="134620"/>
                  </a:moveTo>
                  <a:cubicBezTo>
                    <a:pt x="0" y="60198"/>
                    <a:pt x="60833" y="0"/>
                    <a:pt x="135636" y="0"/>
                  </a:cubicBezTo>
                  <a:lnTo>
                    <a:pt x="2957068" y="0"/>
                  </a:lnTo>
                  <a:lnTo>
                    <a:pt x="2957068" y="12700"/>
                  </a:lnTo>
                  <a:lnTo>
                    <a:pt x="2957068" y="0"/>
                  </a:lnTo>
                  <a:cubicBezTo>
                    <a:pt x="3031871" y="0"/>
                    <a:pt x="3092704" y="60198"/>
                    <a:pt x="3092704" y="134620"/>
                  </a:cubicBezTo>
                  <a:lnTo>
                    <a:pt x="3080004" y="134620"/>
                  </a:lnTo>
                  <a:lnTo>
                    <a:pt x="3092704" y="134620"/>
                  </a:lnTo>
                  <a:lnTo>
                    <a:pt x="3092704" y="1451229"/>
                  </a:lnTo>
                  <a:lnTo>
                    <a:pt x="3080004" y="1451229"/>
                  </a:lnTo>
                  <a:lnTo>
                    <a:pt x="3092704" y="1451229"/>
                  </a:lnTo>
                  <a:cubicBezTo>
                    <a:pt x="3092704" y="1525651"/>
                    <a:pt x="3031871" y="1585849"/>
                    <a:pt x="2957068" y="1585849"/>
                  </a:cubicBezTo>
                  <a:lnTo>
                    <a:pt x="2957068" y="1573149"/>
                  </a:lnTo>
                  <a:lnTo>
                    <a:pt x="2957068" y="1585849"/>
                  </a:lnTo>
                  <a:lnTo>
                    <a:pt x="135636" y="1585849"/>
                  </a:lnTo>
                  <a:lnTo>
                    <a:pt x="135636" y="1573149"/>
                  </a:lnTo>
                  <a:lnTo>
                    <a:pt x="135636" y="1585849"/>
                  </a:lnTo>
                  <a:cubicBezTo>
                    <a:pt x="60833" y="1585976"/>
                    <a:pt x="0" y="1525778"/>
                    <a:pt x="0" y="1451229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51229"/>
                  </a:lnTo>
                  <a:lnTo>
                    <a:pt x="12700" y="1451229"/>
                  </a:lnTo>
                  <a:lnTo>
                    <a:pt x="25400" y="1451229"/>
                  </a:lnTo>
                  <a:cubicBezTo>
                    <a:pt x="25400" y="1511427"/>
                    <a:pt x="74676" y="1560449"/>
                    <a:pt x="135636" y="1560449"/>
                  </a:cubicBezTo>
                  <a:lnTo>
                    <a:pt x="2957068" y="1560449"/>
                  </a:lnTo>
                  <a:cubicBezTo>
                    <a:pt x="3018028" y="1560449"/>
                    <a:pt x="3067304" y="1511427"/>
                    <a:pt x="3067304" y="1451229"/>
                  </a:cubicBezTo>
                  <a:lnTo>
                    <a:pt x="3067304" y="134620"/>
                  </a:lnTo>
                  <a:cubicBezTo>
                    <a:pt x="3067304" y="74422"/>
                    <a:pt x="3018028" y="25400"/>
                    <a:pt x="2957068" y="25400"/>
                  </a:cubicBezTo>
                  <a:lnTo>
                    <a:pt x="135636" y="25400"/>
                  </a:lnTo>
                  <a:lnTo>
                    <a:pt x="135636" y="12700"/>
                  </a:lnTo>
                  <a:lnTo>
                    <a:pt x="135636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691785" y="2699299"/>
            <a:ext cx="76200" cy="1170384"/>
            <a:chOff x="0" y="0"/>
            <a:chExt cx="101600" cy="15605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600" cy="1560576"/>
            </a:xfrm>
            <a:custGeom>
              <a:avLst/>
              <a:gdLst/>
              <a:ahLst/>
              <a:cxnLst/>
              <a:rect r="r" b="b" t="t" l="l"/>
              <a:pathLst>
                <a:path h="1560576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509776"/>
                  </a:lnTo>
                  <a:cubicBezTo>
                    <a:pt x="101600" y="1537843"/>
                    <a:pt x="78867" y="1560576"/>
                    <a:pt x="50800" y="1560576"/>
                  </a:cubicBezTo>
                  <a:cubicBezTo>
                    <a:pt x="22733" y="1560576"/>
                    <a:pt x="0" y="1537843"/>
                    <a:pt x="0" y="1509776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1936616" y="2867920"/>
            <a:ext cx="1819866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Margin Improvement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936616" y="3162595"/>
            <a:ext cx="1906038" cy="53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2-3% enhancement from reduced discounting and efficient operations.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326318" y="3934863"/>
            <a:ext cx="2319338" cy="1009945"/>
            <a:chOff x="0" y="0"/>
            <a:chExt cx="3092450" cy="134659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3067050" cy="1321181"/>
            </a:xfrm>
            <a:custGeom>
              <a:avLst/>
              <a:gdLst/>
              <a:ahLst/>
              <a:cxnLst/>
              <a:rect r="r" b="b" t="t" l="l"/>
              <a:pathLst>
                <a:path h="1321181" w="3067050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2943860" y="0"/>
                  </a:lnTo>
                  <a:cubicBezTo>
                    <a:pt x="3011932" y="0"/>
                    <a:pt x="3067050" y="54610"/>
                    <a:pt x="3067050" y="121920"/>
                  </a:cubicBezTo>
                  <a:lnTo>
                    <a:pt x="3067050" y="1199261"/>
                  </a:lnTo>
                  <a:cubicBezTo>
                    <a:pt x="3067050" y="1266571"/>
                    <a:pt x="3011932" y="1321181"/>
                    <a:pt x="2943860" y="1321181"/>
                  </a:cubicBezTo>
                  <a:lnTo>
                    <a:pt x="123190" y="1321181"/>
                  </a:lnTo>
                  <a:cubicBezTo>
                    <a:pt x="55118" y="1321181"/>
                    <a:pt x="0" y="1266571"/>
                    <a:pt x="0" y="119926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92450" cy="1346581"/>
            </a:xfrm>
            <a:custGeom>
              <a:avLst/>
              <a:gdLst/>
              <a:ahLst/>
              <a:cxnLst/>
              <a:rect r="r" b="b" t="t" l="l"/>
              <a:pathLst>
                <a:path h="1346581" w="3092450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2956560" y="0"/>
                  </a:lnTo>
                  <a:lnTo>
                    <a:pt x="2956560" y="12700"/>
                  </a:lnTo>
                  <a:lnTo>
                    <a:pt x="2956560" y="0"/>
                  </a:lnTo>
                  <a:cubicBezTo>
                    <a:pt x="3031490" y="0"/>
                    <a:pt x="3092450" y="60198"/>
                    <a:pt x="3092450" y="134620"/>
                  </a:cubicBezTo>
                  <a:lnTo>
                    <a:pt x="3079750" y="134620"/>
                  </a:lnTo>
                  <a:lnTo>
                    <a:pt x="3092450" y="134620"/>
                  </a:lnTo>
                  <a:lnTo>
                    <a:pt x="3092450" y="1211961"/>
                  </a:lnTo>
                  <a:lnTo>
                    <a:pt x="3079750" y="1211961"/>
                  </a:lnTo>
                  <a:lnTo>
                    <a:pt x="3092450" y="1211961"/>
                  </a:lnTo>
                  <a:cubicBezTo>
                    <a:pt x="3092450" y="1286383"/>
                    <a:pt x="3031490" y="1346581"/>
                    <a:pt x="2956560" y="1346581"/>
                  </a:cubicBezTo>
                  <a:lnTo>
                    <a:pt x="2956560" y="1333881"/>
                  </a:lnTo>
                  <a:lnTo>
                    <a:pt x="2956560" y="1346581"/>
                  </a:lnTo>
                  <a:lnTo>
                    <a:pt x="135890" y="1346581"/>
                  </a:lnTo>
                  <a:lnTo>
                    <a:pt x="135890" y="1333881"/>
                  </a:lnTo>
                  <a:lnTo>
                    <a:pt x="135890" y="1346581"/>
                  </a:lnTo>
                  <a:cubicBezTo>
                    <a:pt x="60960" y="1346581"/>
                    <a:pt x="0" y="1286510"/>
                    <a:pt x="0" y="1211961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211961"/>
                  </a:lnTo>
                  <a:lnTo>
                    <a:pt x="12700" y="1211961"/>
                  </a:lnTo>
                  <a:lnTo>
                    <a:pt x="25400" y="1211961"/>
                  </a:lnTo>
                  <a:cubicBezTo>
                    <a:pt x="25400" y="1272159"/>
                    <a:pt x="74803" y="1321181"/>
                    <a:pt x="135890" y="1321181"/>
                  </a:cubicBezTo>
                  <a:lnTo>
                    <a:pt x="2956560" y="1321181"/>
                  </a:lnTo>
                  <a:cubicBezTo>
                    <a:pt x="3017774" y="1321181"/>
                    <a:pt x="3067050" y="1272159"/>
                    <a:pt x="3067050" y="1211961"/>
                  </a:cubicBezTo>
                  <a:lnTo>
                    <a:pt x="3067050" y="134620"/>
                  </a:lnTo>
                  <a:cubicBezTo>
                    <a:pt x="3067050" y="74422"/>
                    <a:pt x="3017647" y="25400"/>
                    <a:pt x="2956560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16793" y="3944388"/>
            <a:ext cx="76200" cy="990895"/>
            <a:chOff x="0" y="0"/>
            <a:chExt cx="101600" cy="13211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600" cy="1321181"/>
            </a:xfrm>
            <a:custGeom>
              <a:avLst/>
              <a:gdLst/>
              <a:ahLst/>
              <a:cxnLst/>
              <a:rect r="r" b="b" t="t" l="l"/>
              <a:pathLst>
                <a:path h="1321181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270381"/>
                  </a:lnTo>
                  <a:cubicBezTo>
                    <a:pt x="101600" y="1298448"/>
                    <a:pt x="78867" y="1321181"/>
                    <a:pt x="50800" y="1321181"/>
                  </a:cubicBezTo>
                  <a:cubicBezTo>
                    <a:pt x="22733" y="1321181"/>
                    <a:pt x="0" y="1298448"/>
                    <a:pt x="0" y="1270381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561614" y="4113009"/>
            <a:ext cx="1760039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Working Capital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61614" y="4407694"/>
            <a:ext cx="1905895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Reduced blockage, improving cash flow.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701310" y="3934863"/>
            <a:ext cx="2319490" cy="1009945"/>
            <a:chOff x="0" y="0"/>
            <a:chExt cx="3092653" cy="134659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3067177" cy="1321181"/>
            </a:xfrm>
            <a:custGeom>
              <a:avLst/>
              <a:gdLst/>
              <a:ahLst/>
              <a:cxnLst/>
              <a:rect r="r" b="b" t="t" l="l"/>
              <a:pathLst>
                <a:path h="1321181" w="3067177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2943987" y="0"/>
                  </a:lnTo>
                  <a:cubicBezTo>
                    <a:pt x="3012059" y="0"/>
                    <a:pt x="3067177" y="54610"/>
                    <a:pt x="3067177" y="121920"/>
                  </a:cubicBezTo>
                  <a:lnTo>
                    <a:pt x="3067177" y="1199261"/>
                  </a:lnTo>
                  <a:cubicBezTo>
                    <a:pt x="3067177" y="1266571"/>
                    <a:pt x="3012059" y="1321181"/>
                    <a:pt x="2943987" y="1321181"/>
                  </a:cubicBezTo>
                  <a:lnTo>
                    <a:pt x="123190" y="1321181"/>
                  </a:lnTo>
                  <a:cubicBezTo>
                    <a:pt x="55118" y="1321181"/>
                    <a:pt x="0" y="1266571"/>
                    <a:pt x="0" y="119926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92577" cy="1346581"/>
            </a:xfrm>
            <a:custGeom>
              <a:avLst/>
              <a:gdLst/>
              <a:ahLst/>
              <a:cxnLst/>
              <a:rect r="r" b="b" t="t" l="l"/>
              <a:pathLst>
                <a:path h="1346581" w="3092577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2956687" y="0"/>
                  </a:lnTo>
                  <a:lnTo>
                    <a:pt x="2956687" y="12700"/>
                  </a:lnTo>
                  <a:lnTo>
                    <a:pt x="2956687" y="0"/>
                  </a:lnTo>
                  <a:cubicBezTo>
                    <a:pt x="3031617" y="0"/>
                    <a:pt x="3092577" y="60198"/>
                    <a:pt x="3092577" y="134620"/>
                  </a:cubicBezTo>
                  <a:lnTo>
                    <a:pt x="3079877" y="134620"/>
                  </a:lnTo>
                  <a:lnTo>
                    <a:pt x="3092577" y="134620"/>
                  </a:lnTo>
                  <a:lnTo>
                    <a:pt x="3092577" y="1211961"/>
                  </a:lnTo>
                  <a:lnTo>
                    <a:pt x="3079877" y="1211961"/>
                  </a:lnTo>
                  <a:lnTo>
                    <a:pt x="3092577" y="1211961"/>
                  </a:lnTo>
                  <a:cubicBezTo>
                    <a:pt x="3092577" y="1286383"/>
                    <a:pt x="3031617" y="1346581"/>
                    <a:pt x="2956687" y="1346581"/>
                  </a:cubicBezTo>
                  <a:lnTo>
                    <a:pt x="2956687" y="1333881"/>
                  </a:lnTo>
                  <a:lnTo>
                    <a:pt x="2956687" y="1346581"/>
                  </a:lnTo>
                  <a:lnTo>
                    <a:pt x="135890" y="1346581"/>
                  </a:lnTo>
                  <a:lnTo>
                    <a:pt x="135890" y="1333881"/>
                  </a:lnTo>
                  <a:lnTo>
                    <a:pt x="135890" y="1346581"/>
                  </a:lnTo>
                  <a:cubicBezTo>
                    <a:pt x="60960" y="1346581"/>
                    <a:pt x="0" y="1286510"/>
                    <a:pt x="0" y="1211961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211961"/>
                  </a:lnTo>
                  <a:lnTo>
                    <a:pt x="12700" y="1211961"/>
                  </a:lnTo>
                  <a:lnTo>
                    <a:pt x="25400" y="1211961"/>
                  </a:lnTo>
                  <a:cubicBezTo>
                    <a:pt x="25400" y="1272159"/>
                    <a:pt x="74803" y="1321181"/>
                    <a:pt x="135890" y="1321181"/>
                  </a:cubicBezTo>
                  <a:lnTo>
                    <a:pt x="2956687" y="1321181"/>
                  </a:lnTo>
                  <a:cubicBezTo>
                    <a:pt x="3017901" y="1321181"/>
                    <a:pt x="3067177" y="1272159"/>
                    <a:pt x="3067177" y="1211961"/>
                  </a:cubicBezTo>
                  <a:lnTo>
                    <a:pt x="3067177" y="134620"/>
                  </a:lnTo>
                  <a:cubicBezTo>
                    <a:pt x="3067177" y="74422"/>
                    <a:pt x="3017774" y="25400"/>
                    <a:pt x="2956687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6BAD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691785" y="3944388"/>
            <a:ext cx="76200" cy="990895"/>
            <a:chOff x="0" y="0"/>
            <a:chExt cx="101600" cy="132119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1600" cy="1321181"/>
            </a:xfrm>
            <a:custGeom>
              <a:avLst/>
              <a:gdLst/>
              <a:ahLst/>
              <a:cxnLst/>
              <a:rect r="r" b="b" t="t" l="l"/>
              <a:pathLst>
                <a:path h="1321181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270381"/>
                  </a:lnTo>
                  <a:cubicBezTo>
                    <a:pt x="101600" y="1298448"/>
                    <a:pt x="78867" y="1321181"/>
                    <a:pt x="50800" y="1321181"/>
                  </a:cubicBezTo>
                  <a:cubicBezTo>
                    <a:pt x="22733" y="1321181"/>
                    <a:pt x="0" y="1298448"/>
                    <a:pt x="0" y="1270381"/>
                  </a:cubicBezTo>
                  <a:close/>
                </a:path>
              </a:pathLst>
            </a:custGeom>
            <a:solidFill>
              <a:srgbClr val="BE49DF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1936616" y="4113009"/>
            <a:ext cx="1760039" cy="2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Customer Retention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936616" y="4407694"/>
            <a:ext cx="1906038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Improved premium customer loyalty and satisfaction.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335843" y="4990805"/>
            <a:ext cx="4675432" cy="367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Data-Driven Optimisation = Higher Revenue + Lower Cost + Superior Customer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DAHBRX-GaG0</dc:identifier>
  <dcterms:modified xsi:type="dcterms:W3CDTF">2011-08-01T06:04:30Z</dcterms:modified>
  <cp:revision>1</cp:revision>
</cp:coreProperties>
</file>